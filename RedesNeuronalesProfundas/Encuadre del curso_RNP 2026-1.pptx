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9" r:id="rId1"/>
  </p:sldMasterIdLst>
  <p:notesMasterIdLst>
    <p:notesMasterId r:id="rId13"/>
  </p:notesMasterIdLst>
  <p:sldIdLst>
    <p:sldId id="256" r:id="rId2"/>
    <p:sldId id="289" r:id="rId3"/>
    <p:sldId id="285" r:id="rId4"/>
    <p:sldId id="259" r:id="rId5"/>
    <p:sldId id="282" r:id="rId6"/>
    <p:sldId id="286" r:id="rId7"/>
    <p:sldId id="287" r:id="rId8"/>
    <p:sldId id="288" r:id="rId9"/>
    <p:sldId id="261" r:id="rId10"/>
    <p:sldId id="263" r:id="rId11"/>
    <p:sldId id="290" r:id="rId12"/>
  </p:sldIdLst>
  <p:sldSz cx="12192000" cy="6858000"/>
  <p:notesSz cx="7099300" cy="10234613"/>
  <p:defaultTextStyle>
    <a:defPPr>
      <a:defRPr lang="es-E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48" autoAdjust="0"/>
    <p:restoredTop sz="94705" autoAdjust="0"/>
  </p:normalViewPr>
  <p:slideViewPr>
    <p:cSldViewPr>
      <p:cViewPr>
        <p:scale>
          <a:sx n="70" d="100"/>
          <a:sy n="70" d="100"/>
        </p:scale>
        <p:origin x="1330" y="1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6701" units="1/cm"/>
          <inkml:channelProperty channel="T" name="resolution" value="1" units="1/dev"/>
        </inkml:channelProperties>
      </inkml:inkSource>
      <inkml:timestamp xml:id="ts0" timeString="2021-01-30T01:47:24.35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12577 6174 0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7.591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15573 10395 0,'0'0'16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8.368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27984 7862 0,'0'0'16,"0"0"0,0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84" units="cm"/>
          <inkml:channel name="Y" type="integer" max="2256" units="cm"/>
          <inkml:channel name="T" type="integer" max="2.14748E9" units="dev"/>
        </inkml:traceFormat>
        <inkml:channelProperties>
          <inkml:channelProperty channel="X" name="resolution" value="115.81396" units="1/cm"/>
          <inkml:channelProperty channel="Y" name="resolution" value="116.28866" units="1/cm"/>
          <inkml:channelProperty channel="T" name="resolution" value="1" units="1/dev"/>
        </inkml:channelProperties>
      </inkml:inkSource>
      <inkml:timestamp xml:id="ts0" timeString="2021-01-30T01:48:08.60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27763 7676 0,'0'0'0,"0"0"16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pPr>
              <a:defRPr/>
            </a:pPr>
            <a:fld id="{BDCCFD46-5347-4521-8709-EDCFC072AB63}" type="datetimeFigureOut">
              <a:rPr lang="es-ES"/>
              <a:pPr>
                <a:defRPr/>
              </a:pPr>
              <a:t>19/01/2026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es-E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s-E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AA9D2C97-410A-4CC9-86D1-FD50B79F3E44}" type="slidenum">
              <a:rPr lang="es-ES"/>
              <a:p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8350"/>
            <a:ext cx="6819900" cy="38369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84A16F9-5299-4C8D-95D5-D85BFDB4CBD3}" type="slidenum">
              <a:rPr lang="es-ES" altLang="en-US"/>
              <a:pPr/>
              <a:t>2</a:t>
            </a:fld>
            <a:endParaRPr lang="es-ES" altLang="en-US"/>
          </a:p>
        </p:txBody>
      </p:sp>
    </p:spTree>
    <p:extLst>
      <p:ext uri="{BB962C8B-B14F-4D97-AF65-F5344CB8AC3E}">
        <p14:creationId xmlns:p14="http://schemas.microsoft.com/office/powerpoint/2010/main" val="30070044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9D70BDF-A71E-4BBA-9B1E-6EDE9F2EACF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2840EE-7EF5-4213-A960-1593349BBA30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08D2A0-581A-4E08-9C41-FD7255702BF8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95400"/>
            <a:ext cx="50800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33E2C9-03B6-4FFE-B7BF-526486109E44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24A739-B3DB-4A38-9AB5-735F8C73F52A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DF403C-13D2-40DD-9A99-794DAB70B66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6684DCE-8EBC-4D6B-ADE3-898F1B1392D7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F5A320-52BF-4F9E-B729-3377C73386A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BA1DC-0C4E-4F78-B433-FACB14159E81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A47F44-F3AA-48B6-8216-029C6C28BF1F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381000"/>
            <a:ext cx="25908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381000"/>
            <a:ext cx="75692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146D2F-FA32-4AB8-AA4D-65D681E69822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295400"/>
            <a:ext cx="50800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6E9587-C06F-433A-B384-25298C6E7A75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914400" y="381000"/>
            <a:ext cx="1036320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2954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9144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810000"/>
            <a:ext cx="50800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EC55E-1769-464A-A68D-65449433DEB9}" type="slidenum">
              <a:rPr lang="en-US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81000"/>
            <a:ext cx="10363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título del patrón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295400"/>
            <a:ext cx="10363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Haga clic para modificar el estilo de texto del patrón</a:t>
            </a:r>
          </a:p>
          <a:p>
            <a:pPr lvl="1"/>
            <a:r>
              <a:rPr lang="en-US" altLang="en-US"/>
              <a:t>Segundo nivel</a:t>
            </a:r>
          </a:p>
          <a:p>
            <a:pPr lvl="2"/>
            <a:r>
              <a:rPr lang="en-US" altLang="en-US"/>
              <a:t>Tercer nivel</a:t>
            </a:r>
          </a:p>
          <a:p>
            <a:pPr lvl="3"/>
            <a:r>
              <a:rPr lang="en-US" altLang="en-US"/>
              <a:t>Cuarto nivel</a:t>
            </a:r>
          </a:p>
          <a:p>
            <a:pPr lvl="4"/>
            <a:r>
              <a:rPr lang="en-US" altLang="en-US"/>
              <a:t>Quinto nivel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6966675-7725-4550-B7AD-D3F2289E991E}" type="slidenum">
              <a:rPr lang="en-US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david.roman@uacj.mx" TargetMode="Externa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88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18" Type="http://schemas.openxmlformats.org/officeDocument/2006/relationships/customXml" Target="../ink/ink3.xml"/><Relationship Id="rId3" Type="http://schemas.openxmlformats.org/officeDocument/2006/relationships/image" Target="../media/image1.png"/><Relationship Id="rId17" Type="http://schemas.openxmlformats.org/officeDocument/2006/relationships/image" Target="../media/image88.png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19" Type="http://schemas.openxmlformats.org/officeDocument/2006/relationships/customXml" Target="../ink/ink4.xml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74826" y="1219200"/>
            <a:ext cx="8207375" cy="1143000"/>
          </a:xfrm>
        </p:spPr>
        <p:txBody>
          <a:bodyPr/>
          <a:lstStyle/>
          <a:p>
            <a:r>
              <a:rPr lang="es-ES" altLang="en-US" sz="3900">
                <a:latin typeface="Calibri" pitchFamily="34" charset="0"/>
                <a:ea typeface="Calibri" pitchFamily="34" charset="0"/>
                <a:cs typeface="Calibri" pitchFamily="34" charset="0"/>
              </a:rPr>
              <a:t>Redes Neuronales Profundas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8214" y="4076700"/>
            <a:ext cx="7704137" cy="1752600"/>
          </a:xfrm>
        </p:spPr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Maestría en Inteligencia Artificial y Analítica de Datos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  <a:t>Universidad Autónoma de Ciudad Juárez</a:t>
            </a:r>
          </a:p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Enero – Junio 2026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307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7246619"/>
              </p:ext>
            </p:extLst>
          </p:nvPr>
        </p:nvGraphicFramePr>
        <p:xfrm>
          <a:off x="10848528" y="260648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528" y="260648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" name="Rectangle 2"/>
          <p:cNvSpPr txBox="1">
            <a:spLocks noChangeArrowheads="1"/>
          </p:cNvSpPr>
          <p:nvPr/>
        </p:nvSpPr>
        <p:spPr bwMode="auto">
          <a:xfrm>
            <a:off x="2126975" y="26479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/>
            <a:r>
              <a:rPr lang="es-ES" altLang="en-US" sz="3000" b="1">
                <a:solidFill>
                  <a:schemeClr val="tx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MIAD-0012-24</a:t>
            </a:r>
          </a:p>
          <a:p>
            <a:pPr algn="ctr"/>
            <a:r>
              <a:rPr lang="es-ES" altLang="en-US" sz="3000" b="1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Encuadre </a:t>
            </a:r>
            <a:r>
              <a:rPr lang="es-ES" altLang="en-US" sz="3000" b="1" dirty="0">
                <a:solidFill>
                  <a:srgbClr val="FF000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del Curso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Profesor y Horarios</a:t>
            </a: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10700543" y="146843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3" imgW="1203810" imgH="1150476" progId="PBrush">
                  <p:embed/>
                </p:oleObj>
              </mc:Choice>
              <mc:Fallback>
                <p:oleObj name="Imagen de mapa de bits" r:id="rId3" imgW="1203810" imgH="1150476" progId="PBrush">
                  <p:embed/>
                  <p:pic>
                    <p:nvPicPr>
                      <p:cNvPr id="409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0543" y="146843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1991544" y="1447800"/>
            <a:ext cx="8143056" cy="118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marL="457200" lvl="1" indent="0">
              <a:buNone/>
              <a:defRPr/>
            </a:pPr>
            <a:endParaRPr lang="es-ES" kern="0" dirty="0">
              <a:latin typeface="Calibri" pitchFamily="34" charset="0"/>
              <a:cs typeface="Calibri" pitchFamily="34" charset="0"/>
            </a:endParaRPr>
          </a:p>
          <a:p>
            <a:pPr marL="457200" lvl="1" indent="0">
              <a:buNone/>
              <a:defRPr/>
            </a:pPr>
            <a:endParaRPr lang="es-ES" kern="0" dirty="0">
              <a:latin typeface="Calibri" pitchFamily="34" charset="0"/>
              <a:cs typeface="Calibri" pitchFamily="34" charset="0"/>
            </a:endParaRPr>
          </a:p>
          <a:p>
            <a:pPr lvl="1">
              <a:defRPr/>
            </a:pPr>
            <a:endParaRPr lang="es-ES" kern="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F600A8B3-303C-4AD4-8057-C7C6A8183237}"/>
              </a:ext>
            </a:extLst>
          </p:cNvPr>
          <p:cNvSpPr txBox="1">
            <a:spLocks/>
          </p:cNvSpPr>
          <p:nvPr/>
        </p:nvSpPr>
        <p:spPr bwMode="auto">
          <a:xfrm>
            <a:off x="4303713" y="6400800"/>
            <a:ext cx="3529012" cy="457200"/>
          </a:xfrm>
          <a:prstGeom prst="rect">
            <a:avLst/>
          </a:prstGeom>
          <a:noFill/>
          <a:ln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s-E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defRPr>
            </a:lvl9pPr>
          </a:lstStyle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6BACE35-53DF-4D2A-8F30-EF3FE1437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365" y="1277308"/>
            <a:ext cx="10363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400">
                <a:solidFill>
                  <a:schemeClr val="tx1"/>
                </a:solidFill>
                <a:latin typeface="+mn-lt"/>
              </a:defRPr>
            </a:lvl9pPr>
          </a:lstStyle>
          <a:p>
            <a:pPr algn="just">
              <a:defRPr/>
            </a:pPr>
            <a:r>
              <a:rPr lang="es-ES" b="1" kern="0">
                <a:latin typeface="Calibri" pitchFamily="34" charset="0"/>
                <a:cs typeface="Calibri" pitchFamily="34" charset="0"/>
              </a:rPr>
              <a:t>José David Díaz Román</a:t>
            </a:r>
          </a:p>
          <a:p>
            <a:pPr lvl="1" algn="just">
              <a:defRPr/>
            </a:pPr>
            <a:r>
              <a:rPr lang="es-ES" kern="0">
                <a:latin typeface="Calibri" pitchFamily="34" charset="0"/>
                <a:cs typeface="Calibri" pitchFamily="34" charset="0"/>
              </a:rPr>
              <a:t>Cubículo: 	</a:t>
            </a:r>
            <a:r>
              <a:rPr lang="es-ES" b="1" kern="0">
                <a:latin typeface="Calibri" pitchFamily="34" charset="0"/>
                <a:cs typeface="Calibri" pitchFamily="34" charset="0"/>
              </a:rPr>
              <a:t>IIT</a:t>
            </a:r>
            <a:r>
              <a:rPr lang="es-ES" kern="0">
                <a:latin typeface="Calibri" pitchFamily="34" charset="0"/>
                <a:cs typeface="Calibri" pitchFamily="34" charset="0"/>
              </a:rPr>
              <a:t>-</a:t>
            </a:r>
            <a:r>
              <a:rPr lang="es-ES" b="1" kern="0">
                <a:latin typeface="Calibri" pitchFamily="34" charset="0"/>
                <a:cs typeface="Calibri" pitchFamily="34" charset="0"/>
              </a:rPr>
              <a:t>C-103-C 	</a:t>
            </a:r>
          </a:p>
          <a:p>
            <a:pPr lvl="1" algn="just">
              <a:defRPr/>
            </a:pPr>
            <a:r>
              <a:rPr lang="es-ES" kern="0">
                <a:latin typeface="Calibri" pitchFamily="34" charset="0"/>
                <a:cs typeface="Calibri" pitchFamily="34" charset="0"/>
              </a:rPr>
              <a:t>Correo electrónico: 	</a:t>
            </a:r>
            <a:r>
              <a:rPr lang="es-ES" kern="0">
                <a:latin typeface="Calibri" pitchFamily="34" charset="0"/>
                <a:cs typeface="Calibri" pitchFamily="34" charset="0"/>
                <a:hlinkClick r:id="rId5"/>
              </a:rPr>
              <a:t>david.roman@uacj.mx</a:t>
            </a:r>
            <a:r>
              <a:rPr lang="es-ES" kern="0">
                <a:latin typeface="Calibri" pitchFamily="34" charset="0"/>
                <a:cs typeface="Calibri" pitchFamily="34" charset="0"/>
              </a:rPr>
              <a:t> </a:t>
            </a:r>
          </a:p>
          <a:p>
            <a:pPr>
              <a:defRPr/>
            </a:pPr>
            <a:r>
              <a:rPr lang="es-ES" b="1" kern="0">
                <a:latin typeface="Calibri" pitchFamily="34" charset="0"/>
                <a:cs typeface="Calibri" pitchFamily="34" charset="0"/>
              </a:rPr>
              <a:t>Horario de clases:</a:t>
            </a:r>
          </a:p>
          <a:p>
            <a:pPr lvl="1">
              <a:defRPr/>
            </a:pPr>
            <a:r>
              <a:rPr lang="es-VE" kern="0">
                <a:latin typeface="Calibri" pitchFamily="34" charset="0"/>
                <a:cs typeface="Calibri" pitchFamily="34" charset="0"/>
              </a:rPr>
              <a:t>lunes</a:t>
            </a:r>
            <a:r>
              <a:rPr lang="es-ES" kern="0">
                <a:latin typeface="Calibri" pitchFamily="34" charset="0"/>
                <a:cs typeface="Calibri" pitchFamily="34" charset="0"/>
              </a:rPr>
              <a:t>: 		            		18:00-20:00 (MS Teams)</a:t>
            </a:r>
          </a:p>
          <a:p>
            <a:pPr lvl="1">
              <a:defRPr/>
            </a:pPr>
            <a:r>
              <a:rPr lang="es-ES" kern="0">
                <a:latin typeface="Calibri" pitchFamily="34" charset="0"/>
                <a:cs typeface="Calibri" pitchFamily="34" charset="0"/>
              </a:rPr>
              <a:t>Viernes: 				11:00-13:00 (MS Teams – campus virtual)</a:t>
            </a:r>
          </a:p>
          <a:p>
            <a:pPr lvl="7" algn="just">
              <a:buFontTx/>
              <a:buNone/>
              <a:defRPr/>
            </a:pPr>
            <a:r>
              <a:rPr lang="es-ES" b="1" kern="0">
                <a:latin typeface="Calibri" pitchFamily="34" charset="0"/>
                <a:cs typeface="Calibri" pitchFamily="34" charset="0"/>
              </a:rPr>
              <a:t>		 </a:t>
            </a:r>
          </a:p>
          <a:p>
            <a:pPr lvl="1" algn="just">
              <a:defRPr/>
            </a:pPr>
            <a:r>
              <a:rPr lang="es-ES" b="1" kern="0">
                <a:latin typeface="Calibri" pitchFamily="34" charset="0"/>
                <a:cs typeface="Calibri" pitchFamily="34" charset="0"/>
              </a:rPr>
              <a:t>Tutorías</a:t>
            </a:r>
            <a:r>
              <a:rPr lang="es-ES" kern="0">
                <a:latin typeface="Calibri" pitchFamily="34" charset="0"/>
                <a:cs typeface="Calibri" pitchFamily="34" charset="0"/>
              </a:rPr>
              <a:t> :</a:t>
            </a:r>
          </a:p>
          <a:p>
            <a:pPr marL="973138" lvl="2" algn="just">
              <a:defRPr/>
            </a:pPr>
            <a:r>
              <a:rPr lang="es-ES" sz="2000" kern="0">
                <a:latin typeface="Calibri" pitchFamily="34" charset="0"/>
                <a:cs typeface="Calibri" pitchFamily="34" charset="0"/>
              </a:rPr>
              <a:t>Lunes: 		10:00-11:00      (IIT-J1-107-B) - Teams</a:t>
            </a:r>
          </a:p>
          <a:p>
            <a:pPr marL="973138" lvl="2" algn="just">
              <a:defRPr/>
            </a:pPr>
            <a:r>
              <a:rPr lang="es-ES" sz="2000" kern="0">
                <a:latin typeface="Calibri" pitchFamily="34" charset="0"/>
                <a:cs typeface="Calibri" pitchFamily="34" charset="0"/>
              </a:rPr>
              <a:t>Miércoles: 	10:00-11:00      (IIT-C-103-C) - Teams</a:t>
            </a:r>
          </a:p>
          <a:p>
            <a:pPr marL="973138" lvl="2" algn="just">
              <a:defRPr/>
            </a:pPr>
            <a:r>
              <a:rPr lang="es-ES" sz="2000" kern="0">
                <a:latin typeface="Calibri" pitchFamily="34" charset="0"/>
                <a:cs typeface="Calibri" pitchFamily="34" charset="0"/>
              </a:rPr>
              <a:t>Jueves:		11:00-13:00      (IIT-J1-107-B) - Teams</a:t>
            </a:r>
          </a:p>
          <a:p>
            <a:pPr marL="973138" lvl="2" algn="just">
              <a:defRPr/>
            </a:pPr>
            <a:r>
              <a:rPr lang="es-ES" sz="2000" kern="0">
                <a:latin typeface="Calibri" pitchFamily="34" charset="0"/>
                <a:cs typeface="Calibri" pitchFamily="34" charset="0"/>
              </a:rPr>
              <a:t>Cualquier otra hora: Previo acuerdo</a:t>
            </a:r>
            <a:endParaRPr lang="es-ES_tradnl" kern="0" dirty="0">
              <a:solidFill>
                <a:srgbClr val="FF0000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13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208213" y="549275"/>
            <a:ext cx="7772400" cy="685800"/>
          </a:xfrm>
        </p:spPr>
        <p:txBody>
          <a:bodyPr/>
          <a:lstStyle/>
          <a:p>
            <a:r>
              <a:rPr lang="es-MX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Propósitos de la asignatura</a:t>
            </a:r>
            <a:br>
              <a:rPr lang="es-ES" altLang="en-US" dirty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s-ES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911424" y="1556792"/>
            <a:ext cx="10801200" cy="4104456"/>
          </a:xfrm>
        </p:spPr>
        <p:txBody>
          <a:bodyPr/>
          <a:lstStyle/>
          <a:p>
            <a:r>
              <a:rPr lang="es-ES" sz="2800"/>
              <a:t>Esta materia tiene como propósito </a:t>
            </a:r>
            <a:r>
              <a:rPr lang="es-MX" sz="2800"/>
              <a:t>proporcionar a los estudiantes los fundamentos teóricos, habilidades y herramientas para comprender, aplicar, y desarrollar modelos de aprendizaje profundo optimizados. Asimismo, se busca que el estudiante conozca los avances y tendencias en el campo para enfrentar desafíos y aprovechar oportunidades que les permitan contribuir al avance tecnológico de manera ética y responsable</a:t>
            </a:r>
            <a:r>
              <a:rPr lang="es-ES" sz="2800"/>
              <a:t>. 	</a:t>
            </a:r>
          </a:p>
          <a:p>
            <a:pPr marL="457200" indent="-457200">
              <a:buFontTx/>
              <a:buAutoNum type="arabicPeriod"/>
            </a:pPr>
            <a:endParaRPr lang="es-MX" altLang="es-MX" dirty="0">
              <a:latin typeface="Calibri" pitchFamily="34" charset="0"/>
            </a:endParaRPr>
          </a:p>
        </p:txBody>
      </p:sp>
      <p:graphicFrame>
        <p:nvGraphicFramePr>
          <p:cNvPr id="819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401008"/>
              </p:ext>
            </p:extLst>
          </p:nvPr>
        </p:nvGraphicFramePr>
        <p:xfrm>
          <a:off x="10704512" y="84222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819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04512" y="84222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51313" y="6248400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887020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71464" y="1295400"/>
            <a:ext cx="9577064" cy="4876800"/>
          </a:xfrm>
        </p:spPr>
        <p:txBody>
          <a:bodyPr/>
          <a:lstStyle/>
          <a:p>
            <a:r>
              <a:rPr lang="es-ES_tradnl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I. </a:t>
            </a:r>
            <a:r>
              <a:rPr lang="es-MX" sz="2800" b="1">
                <a:latin typeface="Calibri" panose="020F0502020204030204" pitchFamily="34" charset="0"/>
                <a:cs typeface="Calibri" panose="020F0502020204030204" pitchFamily="34" charset="0"/>
              </a:rPr>
              <a:t>Introducción al aprendizaje profundo</a:t>
            </a:r>
            <a:r>
              <a:rPr lang="es-MX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1.1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Definición y motivación detrás del aprendizaje profundo.</a:t>
            </a:r>
            <a:endParaRPr lang="es-MX" altLang="en-US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s-MX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1.2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Diferencias entre el aprendizaje profundo y otros enfoques de aprendizaje automático</a:t>
            </a:r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lvl="1"/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1.3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Aplicaciones del aprendizaje profundo.</a:t>
            </a:r>
          </a:p>
          <a:p>
            <a:pPr lvl="1"/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1.4 Arquitecturas (CNN, RNN, GAN, etc.)</a:t>
            </a:r>
          </a:p>
          <a:p>
            <a:pPr lvl="1"/>
            <a:endParaRPr lang="es-MX" altLang="en-US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2615322"/>
              </p:ext>
            </p:extLst>
          </p:nvPr>
        </p:nvGraphicFramePr>
        <p:xfrm>
          <a:off x="11037887" y="146843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37887" y="146843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295490" y="6423554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15480" y="1300956"/>
            <a:ext cx="9721080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ES_tradnl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II: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Redes Neuronales Convolucionales (CNN)</a:t>
            </a:r>
            <a:r>
              <a:rPr lang="es-MX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2.1 Capas de convolución.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2.2 Capas de agrupación (pooling).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2.3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Capa totalmente conectada y capa de salida</a:t>
            </a:r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2.4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Padding y Stride</a:t>
            </a:r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2.5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Funciones de activación</a:t>
            </a:r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2.6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Funciones de pérdida</a:t>
            </a:r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2.7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Optimizadores</a:t>
            </a:r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2.8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Transferencia de aprendizaje</a:t>
            </a:r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s-E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endParaRPr lang="es-MX" altLang="en-US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182914"/>
              </p:ext>
            </p:extLst>
          </p:nvPr>
        </p:nvGraphicFramePr>
        <p:xfrm>
          <a:off x="10848528" y="146843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8528" y="146843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51313" y="6500192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82837" y="1427086"/>
            <a:ext cx="8426326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ES_tradnl" altLang="en-US" sz="2800">
                <a:latin typeface="Calibri" pitchFamily="34" charset="0"/>
                <a:ea typeface="Calibri" pitchFamily="34" charset="0"/>
                <a:cs typeface="Calibri" pitchFamily="34" charset="0"/>
              </a:rPr>
              <a:t>Unidad III: </a:t>
            </a:r>
            <a:r>
              <a:rPr lang="es-MX" b="1"/>
              <a:t>Redes Neuronales Recurrentes (RNN)</a:t>
            </a:r>
            <a:endParaRPr lang="es-MX" altLang="en-US" sz="280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lvl="1"/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3.1 </a:t>
            </a:r>
            <a:r>
              <a:rPr lang="es-MX"/>
              <a:t>Red de neuronas recurrente</a:t>
            </a:r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lvl="1"/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3.2 </a:t>
            </a:r>
            <a:r>
              <a:rPr lang="en-US"/>
              <a:t>Long-Short Term Memory (LSTM)</a:t>
            </a:r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lvl="1"/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3.3 </a:t>
            </a:r>
            <a:r>
              <a:rPr lang="es-MX"/>
              <a:t>Gated Recurrent Units (GRU)</a:t>
            </a:r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lvl="1"/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3.4 </a:t>
            </a:r>
            <a:r>
              <a:rPr lang="es-MX"/>
              <a:t>Red neuronal recurrente bidireccional</a:t>
            </a:r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</a:p>
          <a:p>
            <a:pPr lvl="1"/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3.5 </a:t>
            </a:r>
            <a:r>
              <a:rPr lang="es-MX"/>
              <a:t>Regularización.</a:t>
            </a: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16475501"/>
              </p:ext>
            </p:extLst>
          </p:nvPr>
        </p:nvGraphicFramePr>
        <p:xfrm>
          <a:off x="11009898" y="20714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09898" y="20714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223792" y="6303886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81757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552" y="1371600"/>
            <a:ext cx="8426326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ES_tradnl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IV: </a:t>
            </a:r>
            <a:r>
              <a:rPr lang="es-MX" b="1">
                <a:latin typeface="Calibri" panose="020F0502020204030204" pitchFamily="34" charset="0"/>
                <a:cs typeface="Calibri" panose="020F0502020204030204" pitchFamily="34" charset="0"/>
              </a:rPr>
              <a:t>Redes Generativas Adversarias (GAN)</a:t>
            </a:r>
            <a:r>
              <a:rPr lang="es-MX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/>
            <a:r>
              <a:rPr lang="es-ES" altLang="en-US" sz="20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4.1 Arquitectura GAN:</a:t>
            </a:r>
          </a:p>
          <a:p>
            <a:pPr lvl="2"/>
            <a:r>
              <a:rPr lang="es-ES" altLang="en-US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Redes GAN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Redes Generadoras Antagónicas Convolucionales Profundas (DCGANs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Discriminador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Generador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Entrenamiento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Función Minimax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Función de pérdida</a:t>
            </a:r>
            <a:endParaRPr lang="es-ES" alt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s-ES" altLang="en-US" sz="2000">
                <a:latin typeface="Calibri" panose="020F0502020204030204" pitchFamily="34" charset="0"/>
                <a:cs typeface="Calibri" pitchFamily="34" charset="0"/>
              </a:rPr>
              <a:t>4.2 </a:t>
            </a:r>
            <a:r>
              <a:rPr lang="es-MX" sz="2000">
                <a:latin typeface="Calibri" panose="020F0502020204030204" pitchFamily="34" charset="0"/>
                <a:cs typeface="Calibri" pitchFamily="34" charset="0"/>
              </a:rPr>
              <a:t>Evaluación de modelos GAN: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Algoritmo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Inception score</a:t>
            </a:r>
          </a:p>
          <a:p>
            <a:pPr lvl="2"/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Métrica </a:t>
            </a:r>
            <a:r>
              <a:rPr lang="es-MX" sz="1800" i="1">
                <a:latin typeface="Calibri" panose="020F0502020204030204" pitchFamily="34" charset="0"/>
                <a:cs typeface="Calibri" panose="020F0502020204030204" pitchFamily="34" charset="0"/>
              </a:rPr>
              <a:t>Fréchet inception distance</a:t>
            </a:r>
            <a:r>
              <a:rPr lang="es-MX" sz="1800">
                <a:latin typeface="Calibri" panose="020F0502020204030204" pitchFamily="34" charset="0"/>
                <a:cs typeface="Calibri" panose="020F0502020204030204" pitchFamily="34" charset="0"/>
              </a:rPr>
              <a:t> (FID)</a:t>
            </a:r>
            <a:r>
              <a:rPr lang="es-MX" sz="1800" i="1"/>
              <a:t> </a:t>
            </a:r>
            <a:endParaRPr lang="es-ES" altLang="en-US" sz="180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145612"/>
              </p:ext>
            </p:extLst>
          </p:nvPr>
        </p:nvGraphicFramePr>
        <p:xfrm>
          <a:off x="10992544" y="0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92544" y="0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439816" y="6324600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54549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Temario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63552" y="1499419"/>
            <a:ext cx="8426326" cy="48768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s-ES_tradnl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V: </a:t>
            </a:r>
            <a:r>
              <a:rPr lang="es-MX" sz="2800" b="1">
                <a:latin typeface="Calibri" panose="020F0502020204030204" pitchFamily="34" charset="0"/>
                <a:cs typeface="Calibri" panose="020F0502020204030204" pitchFamily="34" charset="0"/>
              </a:rPr>
              <a:t>Redes Transformers</a:t>
            </a:r>
            <a:r>
              <a:rPr lang="es-MX" altLang="en-US"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lvl="1">
              <a:lnSpc>
                <a:spcPct val="130000"/>
              </a:lnSpc>
            </a:pPr>
            <a:r>
              <a:rPr lang="es-ES" altLang="en-US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5.1 </a:t>
            </a: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Arquitecturas:</a:t>
            </a:r>
          </a:p>
          <a:p>
            <a:pPr lvl="2"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Transformers para secuencias</a:t>
            </a:r>
          </a:p>
          <a:p>
            <a:pPr lvl="2"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Vision Transformer</a:t>
            </a:r>
          </a:p>
          <a:p>
            <a:pPr lvl="2"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Detection Transformer</a:t>
            </a:r>
          </a:p>
          <a:p>
            <a:pPr lvl="2"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Contrastive Language-Image Pre-training.</a:t>
            </a:r>
          </a:p>
          <a:p>
            <a:pPr lvl="2">
              <a:lnSpc>
                <a:spcPct val="130000"/>
              </a:lnSpc>
            </a:pPr>
            <a:r>
              <a:rPr lang="es-MX">
                <a:latin typeface="Calibri" panose="020F0502020204030204" pitchFamily="34" charset="0"/>
                <a:cs typeface="Calibri" panose="020F0502020204030204" pitchFamily="34" charset="0"/>
              </a:rPr>
              <a:t>Preentrenamiento y </a:t>
            </a:r>
            <a:r>
              <a:rPr lang="es-MX" i="1">
                <a:latin typeface="Calibri" panose="020F0502020204030204" pitchFamily="34" charset="0"/>
                <a:cs typeface="Calibri" panose="020F0502020204030204" pitchFamily="34" charset="0"/>
              </a:rPr>
              <a:t>Transfer Learning</a:t>
            </a:r>
            <a:endParaRPr lang="es-ES" altLang="en-US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922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890084"/>
              </p:ext>
            </p:extLst>
          </p:nvPr>
        </p:nvGraphicFramePr>
        <p:xfrm>
          <a:off x="10920536" y="146843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922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536" y="146843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223792" y="6400800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266141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Evaluación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2286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Acreditación de los temas mediante los siguientes porcentajes: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22860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s-MX" sz="180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Las evaluaciones de las Unidades incluyen las tareas y las prácticas encargadas.</a:t>
            </a:r>
            <a:endParaRPr lang="en-US" sz="18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endParaRPr lang="es-ES" altLang="en-US" sz="22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133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8762359"/>
              </p:ext>
            </p:extLst>
          </p:nvPr>
        </p:nvGraphicFramePr>
        <p:xfrm>
          <a:off x="10920536" y="26987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536" y="26987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223792" y="6374392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292A65F-91B4-473F-BB8D-D6320C57BF8F}"/>
                  </a:ext>
                </a:extLst>
              </p14:cNvPr>
              <p14:cNvContentPartPr/>
              <p14:nvPr/>
            </p14:nvContentPartPr>
            <p14:xfrm>
              <a:off x="4527720" y="2222640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292A65F-91B4-473F-BB8D-D6320C57BF8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511880" y="2159280"/>
                <a:ext cx="31680" cy="12708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15E0BB2-FBF3-0B8A-968E-3037351AAC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4957219"/>
              </p:ext>
            </p:extLst>
          </p:nvPr>
        </p:nvGraphicFramePr>
        <p:xfrm>
          <a:off x="1919536" y="2594382"/>
          <a:ext cx="3744416" cy="26344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6278">
                  <a:extLst>
                    <a:ext uri="{9D8B030D-6E8A-4147-A177-3AD203B41FA5}">
                      <a16:colId xmlns:a16="http://schemas.microsoft.com/office/drawing/2014/main" val="3672767072"/>
                    </a:ext>
                  </a:extLst>
                </a:gridCol>
                <a:gridCol w="1918138">
                  <a:extLst>
                    <a:ext uri="{9D8B030D-6E8A-4147-A177-3AD203B41FA5}">
                      <a16:colId xmlns:a16="http://schemas.microsoft.com/office/drawing/2014/main" val="2214694559"/>
                    </a:ext>
                  </a:extLst>
                </a:gridCol>
              </a:tblGrid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Criterio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Porcentaje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79014915"/>
                  </a:ext>
                </a:extLst>
              </a:tr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Tema 1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10%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2458857"/>
                  </a:ext>
                </a:extLst>
              </a:tr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Tema 2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 20%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7967214"/>
                  </a:ext>
                </a:extLst>
              </a:tr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Tema 3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15%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560582709"/>
                  </a:ext>
                </a:extLst>
              </a:tr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Tema 4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15%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67192136"/>
                  </a:ext>
                </a:extLst>
              </a:tr>
              <a:tr h="3249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Tema 5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20%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12313363"/>
                  </a:ext>
                </a:extLst>
              </a:tr>
              <a:tr h="3423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Proyecto final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20%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88236502"/>
                  </a:ext>
                </a:extLst>
              </a:tr>
              <a:tr h="34238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TOTAL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MX" sz="1400">
                          <a:effectLst/>
                        </a:rPr>
                        <a:t>100%</a:t>
                      </a:r>
                      <a:endParaRPr lang="es-MX" sz="20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7821203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ES" altLang="en-US">
                <a:latin typeface="Calibri" pitchFamily="34" charset="0"/>
                <a:ea typeface="Calibri" pitchFamily="34" charset="0"/>
                <a:cs typeface="Calibri" pitchFamily="34" charset="0"/>
              </a:rPr>
              <a:t>Bibliografía</a:t>
            </a:r>
          </a:p>
        </p:txBody>
      </p:sp>
      <p:graphicFrame>
        <p:nvGraphicFramePr>
          <p:cNvPr id="1433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083515"/>
              </p:ext>
            </p:extLst>
          </p:nvPr>
        </p:nvGraphicFramePr>
        <p:xfrm>
          <a:off x="10920536" y="146843"/>
          <a:ext cx="1154113" cy="1154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n de mapa de bits" r:id="rId2" imgW="1203810" imgH="1150476" progId="PBrush">
                  <p:embed/>
                </p:oleObj>
              </mc:Choice>
              <mc:Fallback>
                <p:oleObj name="Imagen de mapa de bits" r:id="rId2" imgW="1203810" imgH="1150476" progId="PBrush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0536" y="146843"/>
                        <a:ext cx="1154113" cy="11541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4151313" y="6248400"/>
            <a:ext cx="3529012" cy="457200"/>
          </a:xfr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s-MX" altLang="en-US"/>
              <a:t>RNP-2026      Dr. Jos</a:t>
            </a:r>
            <a:r>
              <a:rPr lang="es-VE" altLang="en-US"/>
              <a:t>é David Díaz Román</a:t>
            </a:r>
            <a:endParaRPr lang="en-US" altLang="en-US" dirty="0"/>
          </a:p>
        </p:txBody>
      </p:sp>
      <p:sp>
        <p:nvSpPr>
          <p:cNvPr id="14341" name="Rectangle 1"/>
          <p:cNvSpPr>
            <a:spLocks noChangeArrowheads="1"/>
          </p:cNvSpPr>
          <p:nvPr/>
        </p:nvSpPr>
        <p:spPr bwMode="auto">
          <a:xfrm>
            <a:off x="979851" y="1196752"/>
            <a:ext cx="10006135" cy="4214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Chollet, F. (2021). Deep learning with Python. Simon and Schuster.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Patterson, J., &amp; Gibson, A. (2017). Deep learning: A practitioner's approach. " O'Reilly Media, Inc.".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Aggrawal, C. C. (2018). Neural networks and deep learning: A textbook.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Géron, A. (2022). Hands-on machine learning with Scikit-Learn, Keras, and TensorFlow. " O'Reilly Media, Inc.".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sz="180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Vasilev, I., Slater, D., Spacagna, G., Roelants, P., &amp; Zocca, V. (2019). Python Deep Learning: Exploring deep learning techniques and neural network architectures with Pytorch, Keras, and TensorFlow. Packt Publishing Ltd.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altLang="es-MX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Goodfellow, I., Bengio, Y., &amp; Courville, A. (2016). Deep learning. MIT press.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r>
              <a:rPr lang="en-US" altLang="es-MX" sz="1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Shanmugamani, R. (2018). Deep Learning for Computer Vision: Expert techniques to train advanced neural networks using TensorFlow and Keras. Packt Publishing Ltd</a:t>
            </a: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endParaRPr lang="en-US" altLang="es-MX" sz="1800">
              <a:latin typeface="Calibri" pitchFamily="34" charset="0"/>
              <a:ea typeface="Calibri" pitchFamily="34" charset="0"/>
              <a:cs typeface="Times New Roman" pitchFamily="18" charset="0"/>
            </a:endParaRPr>
          </a:p>
          <a:p>
            <a:pPr marL="342900" indent="-342900" algn="just">
              <a:lnSpc>
                <a:spcPct val="115000"/>
              </a:lnSpc>
              <a:buFontTx/>
              <a:buAutoNum type="arabicPeriod"/>
              <a:tabLst>
                <a:tab pos="381000" algn="l"/>
              </a:tabLst>
            </a:pPr>
            <a:endParaRPr lang="es-MX" altLang="es-MX" sz="18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62C6A0E-4EE1-4FF0-96EB-40DA055AF144}"/>
                  </a:ext>
                </a:extLst>
              </p14:cNvPr>
              <p14:cNvContentPartPr/>
              <p14:nvPr/>
            </p14:nvContentPartPr>
            <p14:xfrm>
              <a:off x="5606280" y="374220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62C6A0E-4EE1-4FF0-96EB-40DA055AF14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90440" y="367884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A8187B-C89E-4F83-92FD-E86CCD0F22BE}"/>
                  </a:ext>
                </a:extLst>
              </p14:cNvPr>
              <p14:cNvContentPartPr/>
              <p14:nvPr/>
            </p14:nvContentPartPr>
            <p14:xfrm>
              <a:off x="10074240" y="2830320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A8187B-C89E-4F83-92FD-E86CCD0F22B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58400" y="2766960"/>
                <a:ext cx="3168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D451B70-41FD-4164-8FAB-C54D0B3A2F62}"/>
                  </a:ext>
                </a:extLst>
              </p14:cNvPr>
              <p14:cNvContentPartPr/>
              <p14:nvPr/>
            </p14:nvContentPartPr>
            <p14:xfrm>
              <a:off x="9994680" y="276336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D451B70-41FD-4164-8FAB-C54D0B3A2F6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78840" y="2700000"/>
                <a:ext cx="31680" cy="127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98732-3AC7-22BD-6BCB-035AF20B5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0CE4E8-4521-09C5-CFF9-6EA68442DC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BC4864-ECC3-A2B0-A57F-84D18D28B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s-MX"/>
              <a:t>IE-2014      Dr. Ernesto Sifuentes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30786"/>
      </p:ext>
    </p:extLst>
  </p:cSld>
  <p:clrMapOvr>
    <a:masterClrMapping/>
  </p:clrMapOvr>
</p:sld>
</file>

<file path=ppt/theme/theme1.xml><?xml version="1.0" encoding="utf-8"?>
<a:theme xmlns:a="http://schemas.openxmlformats.org/drawingml/2006/main" name="transp-reco">
  <a:themeElements>
    <a:clrScheme name="">
      <a:dk1>
        <a:srgbClr val="000000"/>
      </a:dk1>
      <a:lt1>
        <a:srgbClr val="FFFFCC"/>
      </a:lt1>
      <a:dk2>
        <a:srgbClr val="000099"/>
      </a:dk2>
      <a:lt2>
        <a:srgbClr val="666633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transp-rec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s-E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ransp-rec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ransp-rec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ransp-rec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Office\Plantillas\transp-reco.pot</Template>
  <TotalTime>10878</TotalTime>
  <Words>715</Words>
  <Application>Microsoft Office PowerPoint</Application>
  <PresentationFormat>Panorámica</PresentationFormat>
  <Paragraphs>104</Paragraphs>
  <Slides>11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Times New Roman</vt:lpstr>
      <vt:lpstr>transp-reco</vt:lpstr>
      <vt:lpstr>Imagen de mapa de bits</vt:lpstr>
      <vt:lpstr>Redes Neuronales Profundas</vt:lpstr>
      <vt:lpstr>Profesor y Horarios</vt:lpstr>
      <vt:lpstr>Propósitos de la asignatura </vt:lpstr>
      <vt:lpstr>Temario</vt:lpstr>
      <vt:lpstr>Temario</vt:lpstr>
      <vt:lpstr>Temario</vt:lpstr>
      <vt:lpstr>Temario</vt:lpstr>
      <vt:lpstr>Temario</vt:lpstr>
      <vt:lpstr>Evaluación</vt:lpstr>
      <vt:lpstr>Bibliografía</vt:lpstr>
      <vt:lpstr>Presentación de PowerPoint</vt:lpstr>
    </vt:vector>
  </TitlesOfParts>
  <Company>Dpto. Informatica y Sistemas - ULPGC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Instrumentación</dc:title>
  <dc:creator>javier</dc:creator>
  <cp:lastModifiedBy>Autor</cp:lastModifiedBy>
  <cp:revision>315</cp:revision>
  <dcterms:created xsi:type="dcterms:W3CDTF">2001-02-19T09:35:00Z</dcterms:created>
  <dcterms:modified xsi:type="dcterms:W3CDTF">2026-01-20T01:37:16Z</dcterms:modified>
</cp:coreProperties>
</file>