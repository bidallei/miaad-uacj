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9" r:id="rId1"/>
  </p:sldMasterIdLst>
  <p:notesMasterIdLst>
    <p:notesMasterId r:id="rId39"/>
  </p:notesMasterIdLst>
  <p:sldIdLst>
    <p:sldId id="256" r:id="rId2"/>
    <p:sldId id="285" r:id="rId3"/>
    <p:sldId id="259" r:id="rId4"/>
    <p:sldId id="282" r:id="rId5"/>
    <p:sldId id="291" r:id="rId6"/>
    <p:sldId id="286" r:id="rId7"/>
    <p:sldId id="287" r:id="rId8"/>
    <p:sldId id="319" r:id="rId9"/>
    <p:sldId id="288" r:id="rId10"/>
    <p:sldId id="320" r:id="rId11"/>
    <p:sldId id="292" r:id="rId12"/>
    <p:sldId id="293" r:id="rId13"/>
    <p:sldId id="294" r:id="rId14"/>
    <p:sldId id="261" r:id="rId15"/>
    <p:sldId id="295" r:id="rId16"/>
    <p:sldId id="296" r:id="rId17"/>
    <p:sldId id="263" r:id="rId18"/>
    <p:sldId id="290" r:id="rId19"/>
    <p:sldId id="297" r:id="rId20"/>
    <p:sldId id="300" r:id="rId21"/>
    <p:sldId id="302" r:id="rId22"/>
    <p:sldId id="303" r:id="rId23"/>
    <p:sldId id="304" r:id="rId24"/>
    <p:sldId id="306" r:id="rId25"/>
    <p:sldId id="305" r:id="rId26"/>
    <p:sldId id="307" r:id="rId27"/>
    <p:sldId id="308" r:id="rId28"/>
    <p:sldId id="311" r:id="rId29"/>
    <p:sldId id="309" r:id="rId30"/>
    <p:sldId id="312" r:id="rId31"/>
    <p:sldId id="310" r:id="rId32"/>
    <p:sldId id="314" r:id="rId33"/>
    <p:sldId id="315" r:id="rId34"/>
    <p:sldId id="313" r:id="rId35"/>
    <p:sldId id="316" r:id="rId36"/>
    <p:sldId id="317" r:id="rId37"/>
    <p:sldId id="318" r:id="rId38"/>
  </p:sldIdLst>
  <p:sldSz cx="12192000" cy="6858000"/>
  <p:notesSz cx="7099300" cy="10234613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Estilo temático 1 - Énfasis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Estilo temático 1 - Énfasis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16" autoAdjust="0"/>
    <p:restoredTop sz="85032" autoAdjust="0"/>
  </p:normalViewPr>
  <p:slideViewPr>
    <p:cSldViewPr>
      <p:cViewPr varScale="1">
        <p:scale>
          <a:sx n="67" d="100"/>
          <a:sy n="67" d="100"/>
        </p:scale>
        <p:origin x="1253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54" d="100"/>
          <a:sy n="54" d="100"/>
        </p:scale>
        <p:origin x="3293" y="8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1-01-30T01:47:24.35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12577 6174 0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1-01-30T01:47:24.35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12577 6174 0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84" units="cm"/>
          <inkml:channel name="Y" type="integer" max="2256" units="cm"/>
          <inkml:channel name="T" type="integer" max="2.14748E9" units="dev"/>
        </inkml:traceFormat>
        <inkml:channelProperties>
          <inkml:channelProperty channel="X" name="resolution" value="115.81396" units="1/cm"/>
          <inkml:channelProperty channel="Y" name="resolution" value="116.28866" units="1/cm"/>
          <inkml:channelProperty channel="T" name="resolution" value="1" units="1/dev"/>
        </inkml:channelProperties>
      </inkml:inkSource>
      <inkml:timestamp xml:id="ts0" timeString="2021-01-30T01:48:07.59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15573 10395 0,'0'0'16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84" units="cm"/>
          <inkml:channel name="Y" type="integer" max="2256" units="cm"/>
          <inkml:channel name="T" type="integer" max="2.14748E9" units="dev"/>
        </inkml:traceFormat>
        <inkml:channelProperties>
          <inkml:channelProperty channel="X" name="resolution" value="115.81396" units="1/cm"/>
          <inkml:channelProperty channel="Y" name="resolution" value="116.28866" units="1/cm"/>
          <inkml:channelProperty channel="T" name="resolution" value="1" units="1/dev"/>
        </inkml:channelProperties>
      </inkml:inkSource>
      <inkml:timestamp xml:id="ts0" timeString="2021-01-30T01:48:08.36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27984 7862 0,'0'0'16,"0"0"0,0 0-16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84" units="cm"/>
          <inkml:channel name="Y" type="integer" max="2256" units="cm"/>
          <inkml:channel name="T" type="integer" max="2.14748E9" units="dev"/>
        </inkml:traceFormat>
        <inkml:channelProperties>
          <inkml:channelProperty channel="X" name="resolution" value="115.81396" units="1/cm"/>
          <inkml:channelProperty channel="Y" name="resolution" value="116.28866" units="1/cm"/>
          <inkml:channelProperty channel="T" name="resolution" value="1" units="1/dev"/>
        </inkml:channelProperties>
      </inkml:inkSource>
      <inkml:timestamp xml:id="ts0" timeString="2021-01-30T01:48:08.60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27763 7676 0,'0'0'0,"0"0"16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>
              <a:defRPr/>
            </a:pPr>
            <a:fld id="{BDCCFD46-5347-4521-8709-EDCFC072AB63}" type="datetimeFigureOut">
              <a:rPr lang="es-ES"/>
              <a:pPr>
                <a:defRPr/>
              </a:pPr>
              <a:t>19/01/2026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es-E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E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AA9D2C97-410A-4CC9-86D1-FD50B79F3E44}" type="slidenum">
              <a:rPr lang="es-ES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223" userDrawn="1">
          <p15:clr>
            <a:srgbClr val="F26B43"/>
          </p15:clr>
        </p15:guide>
        <p15:guide id="2" pos="2236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9D2C97-410A-4CC9-86D1-FD50B79F3E44}" type="slidenum">
              <a:rPr lang="es-ES" smtClean="0"/>
              <a:pPr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39823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9D2C97-410A-4CC9-86D1-FD50B79F3E44}" type="slidenum">
              <a:rPr lang="es-ES" smtClean="0"/>
              <a:pPr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7264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MX"/>
              <a:t>IE-2014      Dr. Ernesto Sifuentes 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D70BDF-A71E-4BBA-9B1E-6EDE9F2EACF0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2840EE-7EF5-4213-A960-1593349BBA30}" type="slidenum">
              <a:rPr lang="en-US"/>
              <a:pPr/>
              <a:t>‹Nº›</a:t>
            </a:fld>
            <a:endParaRPr lang="en-US"/>
          </a:p>
        </p:txBody>
      </p:sp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9E612B12-C9C0-2989-2402-ABE0F925EFC9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2205820927"/>
              </p:ext>
            </p:extLst>
          </p:nvPr>
        </p:nvGraphicFramePr>
        <p:xfrm>
          <a:off x="11037887" y="26987"/>
          <a:ext cx="1154113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n de mapa de bits" r:id="rId2" imgW="1203810" imgH="1150476" progId="PBrush">
                  <p:embed/>
                </p:oleObj>
              </mc:Choice>
              <mc:Fallback>
                <p:oleObj name="Imagen de mapa de bits" r:id="rId2" imgW="1203810" imgH="1150476" progId="PBrush">
                  <p:embed/>
                  <p:pic>
                    <p:nvPicPr>
                      <p:cNvPr id="8" name="Object 5">
                        <a:extLst>
                          <a:ext uri="{FF2B5EF4-FFF2-40B4-BE49-F238E27FC236}">
                            <a16:creationId xmlns:a16="http://schemas.microsoft.com/office/drawing/2014/main" id="{31C3694B-F1A7-EB9F-B72B-55A44D0BBD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37887" y="26987"/>
                        <a:ext cx="1154113" cy="1154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5">
            <a:extLst>
              <a:ext uri="{FF2B5EF4-FFF2-40B4-BE49-F238E27FC236}">
                <a16:creationId xmlns:a16="http://schemas.microsoft.com/office/drawing/2014/main" id="{FB8A485D-84D6-00DC-C6CA-BB6093A3695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163250" y="6591300"/>
            <a:ext cx="38608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s-MX"/>
              <a:t>RNP-2026      Dr. José David Díaz Román</a:t>
            </a:r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MX"/>
              <a:t>IE-2014      Dr. Ernesto Sifuentes 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08D2A0-581A-4E08-9C41-FD7255702BF8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295400"/>
            <a:ext cx="5080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95400"/>
            <a:ext cx="5080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3250" y="6591300"/>
            <a:ext cx="3860800" cy="2286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MX"/>
              <a:t>RNP-2025      Dr. José David Díaz Román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33E2C9-03B6-4FFE-B7BF-526486109E44}" type="slidenum">
              <a:rPr lang="en-US"/>
              <a:pPr/>
              <a:t>‹Nº›</a:t>
            </a:fld>
            <a:endParaRPr lang="en-US"/>
          </a:p>
        </p:txBody>
      </p:sp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A23B7A49-2231-3F21-FB8E-CB09EAE873E1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2069153873"/>
              </p:ext>
            </p:extLst>
          </p:nvPr>
        </p:nvGraphicFramePr>
        <p:xfrm>
          <a:off x="11037887" y="26987"/>
          <a:ext cx="1154113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n de mapa de bits" r:id="rId2" imgW="1203810" imgH="1150476" progId="PBrush">
                  <p:embed/>
                </p:oleObj>
              </mc:Choice>
              <mc:Fallback>
                <p:oleObj name="Imagen de mapa de bits" r:id="rId2" imgW="1203810" imgH="1150476" progId="PBrush">
                  <p:embed/>
                  <p:pic>
                    <p:nvPicPr>
                      <p:cNvPr id="8" name="Object 5">
                        <a:extLst>
                          <a:ext uri="{FF2B5EF4-FFF2-40B4-BE49-F238E27FC236}">
                            <a16:creationId xmlns:a16="http://schemas.microsoft.com/office/drawing/2014/main" id="{31C3694B-F1A7-EB9F-B72B-55A44D0BBD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37887" y="26987"/>
                        <a:ext cx="1154113" cy="1154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MX"/>
              <a:t>IE-2014      Dr. Ernesto Sifuentes 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24A739-B3DB-4A38-9AB5-735F8C73F52A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MX"/>
              <a:t>IE-2014      Dr. Ernesto Sifuentes 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DF403C-13D2-40DD-9A99-794DAB70B667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MX"/>
              <a:t>IE-2014      Dr. Ernesto Sifuentes 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6684DCE-8EBC-4D6B-ADE3-898F1B1392D7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MX"/>
              <a:t>IE-2014      Dr. Ernesto Sifuentes 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F5A320-52BF-4F9E-B729-3377C73386A2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MX"/>
              <a:t>IE-2014      Dr. Ernesto Sifuentes 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1BA1DC-0C4E-4F78-B433-FACB14159E81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MX"/>
              <a:t>IE-2014      Dr. Ernesto Sifuentes 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A47F44-F3AA-48B6-8216-029C6C28BF1F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381000"/>
            <a:ext cx="2590800" cy="579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381000"/>
            <a:ext cx="7569200" cy="5791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MX"/>
              <a:t>IE-2014      Dr. Ernesto Sifuentes 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146D2F-FA32-4AB8-AA4D-65D681E69822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63200" cy="685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295400"/>
            <a:ext cx="50800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295400"/>
            <a:ext cx="50800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810000"/>
            <a:ext cx="50800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MX"/>
              <a:t>IE-2014      Dr. Ernesto Sifuentes </a:t>
            </a: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6E9587-C06F-433A-B384-25298C6E7A75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914400" y="381000"/>
            <a:ext cx="10363200" cy="685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295400"/>
            <a:ext cx="50800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295400"/>
            <a:ext cx="50800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914400" y="3810000"/>
            <a:ext cx="50800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3810000"/>
            <a:ext cx="50800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MX"/>
              <a:t>IE-2014      Dr. Ernesto Sifuentes 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1EC55E-1769-464A-A68D-65449433DEB9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381000"/>
            <a:ext cx="10363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Haga clic para modificar el estilo de título del patrón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295400"/>
            <a:ext cx="103632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Haga clic para modificar el estilo de texto del patrón</a:t>
            </a:r>
          </a:p>
          <a:p>
            <a:pPr lvl="1"/>
            <a:r>
              <a:rPr lang="en-US" altLang="en-US"/>
              <a:t>Segundo nivel</a:t>
            </a:r>
          </a:p>
          <a:p>
            <a:pPr lvl="2"/>
            <a:r>
              <a:rPr lang="en-US" altLang="en-US"/>
              <a:t>Tercer nivel</a:t>
            </a:r>
          </a:p>
          <a:p>
            <a:pPr lvl="3"/>
            <a:r>
              <a:rPr lang="en-US" altLang="en-US"/>
              <a:t>Cuarto nivel</a:t>
            </a:r>
          </a:p>
          <a:p>
            <a:pPr lvl="4"/>
            <a:r>
              <a:rPr lang="en-US" altLang="en-US"/>
              <a:t>Quinto nivel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r>
              <a:rPr lang="es-MX"/>
              <a:t>IE-2014      Dr. Ernesto Sifuentes </a:t>
            </a:r>
            <a:endParaRPr lang="en-US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6966675-7725-4550-B7AD-D3F2289E991E}" type="slidenum">
              <a:rPr lang="en-US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sla.com/es_mx/fsd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37" Type="http://schemas.openxmlformats.org/officeDocument/2006/relationships/image" Target="../media/image8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37" Type="http://schemas.openxmlformats.org/officeDocument/2006/relationships/image" Target="../media/image8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8" Type="http://schemas.openxmlformats.org/officeDocument/2006/relationships/customXml" Target="../ink/ink4.xml"/><Relationship Id="rId17" Type="http://schemas.openxmlformats.org/officeDocument/2006/relationships/image" Target="../media/image88.png"/><Relationship Id="rId2" Type="http://schemas.openxmlformats.org/officeDocument/2006/relationships/customXml" Target="../ink/ink3.xml"/><Relationship Id="rId20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19" Type="http://schemas.openxmlformats.org/officeDocument/2006/relationships/customXml" Target="../ink/ink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s://www.thispersondoesnotexist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74826" y="1219200"/>
            <a:ext cx="8207375" cy="1143000"/>
          </a:xfrm>
        </p:spPr>
        <p:txBody>
          <a:bodyPr/>
          <a:lstStyle/>
          <a:p>
            <a:r>
              <a:rPr lang="es-ES" altLang="en-US" sz="3900">
                <a:latin typeface="Calibri" pitchFamily="34" charset="0"/>
                <a:ea typeface="Calibri" pitchFamily="34" charset="0"/>
                <a:cs typeface="Calibri" pitchFamily="34" charset="0"/>
              </a:rPr>
              <a:t>Redes Neuronales Profundas</a:t>
            </a:r>
            <a:endParaRPr lang="es-ES" altLang="en-US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08214" y="4076700"/>
            <a:ext cx="7704137" cy="1752600"/>
          </a:xfrm>
        </p:spPr>
        <p:txBody>
          <a:bodyPr/>
          <a:lstStyle/>
          <a:p>
            <a:r>
              <a:rPr lang="es-ES" altLang="en-US">
                <a:latin typeface="Calibri" pitchFamily="34" charset="0"/>
                <a:ea typeface="Calibri" pitchFamily="34" charset="0"/>
                <a:cs typeface="Calibri" pitchFamily="34" charset="0"/>
              </a:rPr>
              <a:t>Maestría en Inteligencia Artificial y Analítica de Datos</a:t>
            </a:r>
            <a:endParaRPr lang="es-ES" altLang="en-US" dirty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r>
              <a:rPr lang="es-ES" altLang="en-US" dirty="0">
                <a:latin typeface="Calibri" pitchFamily="34" charset="0"/>
                <a:ea typeface="Calibri" pitchFamily="34" charset="0"/>
                <a:cs typeface="Calibri" pitchFamily="34" charset="0"/>
              </a:rPr>
              <a:t>Universidad Autónoma de Ciudad Juárez</a:t>
            </a:r>
          </a:p>
          <a:p>
            <a:r>
              <a:rPr lang="es-ES" altLang="en-US">
                <a:latin typeface="Calibri" pitchFamily="34" charset="0"/>
                <a:ea typeface="Calibri" pitchFamily="34" charset="0"/>
                <a:cs typeface="Calibri" pitchFamily="34" charset="0"/>
              </a:rPr>
              <a:t>Enero – Junio 2026</a:t>
            </a:r>
          </a:p>
          <a:p>
            <a:endParaRPr lang="es-ES" altLang="en-US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graphicFrame>
        <p:nvGraphicFramePr>
          <p:cNvPr id="307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7246619"/>
              </p:ext>
            </p:extLst>
          </p:nvPr>
        </p:nvGraphicFramePr>
        <p:xfrm>
          <a:off x="10848528" y="260648"/>
          <a:ext cx="1154113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n de mapa de bits" r:id="rId2" imgW="1203810" imgH="1150476" progId="PBrush">
                  <p:embed/>
                </p:oleObj>
              </mc:Choice>
              <mc:Fallback>
                <p:oleObj name="Imagen de mapa de bits" r:id="rId2" imgW="1203810" imgH="1150476" progId="PBrush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48528" y="260648"/>
                        <a:ext cx="1154113" cy="1154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7" name="Rectangle 2"/>
          <p:cNvSpPr txBox="1">
            <a:spLocks noChangeArrowheads="1"/>
          </p:cNvSpPr>
          <p:nvPr/>
        </p:nvSpPr>
        <p:spPr bwMode="auto">
          <a:xfrm>
            <a:off x="2126975" y="264795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s-ES" altLang="en-US" sz="3000" b="1">
                <a:solidFill>
                  <a:schemeClr val="tx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Unidad 1. </a:t>
            </a:r>
            <a:r>
              <a:rPr lang="es-MX" sz="3200" b="1">
                <a:latin typeface="Calibri" panose="020F0502020204030204" pitchFamily="34" charset="0"/>
                <a:cs typeface="Calibri" panose="020F0502020204030204" pitchFamily="34" charset="0"/>
              </a:rPr>
              <a:t>Introducción al aprendizaje profundo</a:t>
            </a:r>
            <a:endParaRPr lang="es-ES" altLang="en-US" sz="3000" b="1" dirty="0">
              <a:solidFill>
                <a:srgbClr val="FF0000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2208213" y="549275"/>
            <a:ext cx="7772400" cy="685800"/>
          </a:xfrm>
        </p:spPr>
        <p:txBody>
          <a:bodyPr/>
          <a:lstStyle/>
          <a:p>
            <a:r>
              <a:rPr lang="es-MX" altLang="en-US">
                <a:latin typeface="Calibri" pitchFamily="34" charset="0"/>
                <a:ea typeface="Calibri" pitchFamily="34" charset="0"/>
                <a:cs typeface="Calibri" pitchFamily="34" charset="0"/>
              </a:rPr>
              <a:t>Objetivo de la Unidad</a:t>
            </a:r>
            <a:br>
              <a:rPr lang="es-ES" altLang="en-US" dirty="0">
                <a:latin typeface="Calibri" pitchFamily="34" charset="0"/>
                <a:ea typeface="Calibri" pitchFamily="34" charset="0"/>
                <a:cs typeface="Calibri" pitchFamily="34" charset="0"/>
              </a:rPr>
            </a:br>
            <a:endParaRPr lang="es-ES" altLang="en-US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911424" y="1556792"/>
            <a:ext cx="10801200" cy="4104456"/>
          </a:xfrm>
        </p:spPr>
        <p:txBody>
          <a:bodyPr/>
          <a:lstStyle/>
          <a:p>
            <a:r>
              <a:rPr lang="es-MX" sz="2800"/>
              <a:t>El estudiante aprenderá los conceptos básicos del aprendizaje profundo, así como sus diferentes arquitecturas y diversas aplicaciones</a:t>
            </a:r>
            <a:r>
              <a:rPr lang="es-ES" sz="3200"/>
              <a:t>. 	</a:t>
            </a:r>
          </a:p>
          <a:p>
            <a:pPr marL="457200" indent="-457200">
              <a:buFontTx/>
              <a:buAutoNum type="arabicPeriod"/>
            </a:pPr>
            <a:endParaRPr lang="es-MX" altLang="es-MX" sz="28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7020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n-US">
                <a:latin typeface="Calibri" pitchFamily="34" charset="0"/>
                <a:ea typeface="Calibri" pitchFamily="34" charset="0"/>
                <a:cs typeface="Calibri" pitchFamily="34" charset="0"/>
              </a:rPr>
              <a:t>Temario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71464" y="1295400"/>
            <a:ext cx="9577064" cy="4876800"/>
          </a:xfrm>
        </p:spPr>
        <p:txBody>
          <a:bodyPr/>
          <a:lstStyle/>
          <a:p>
            <a:r>
              <a:rPr lang="es-ES_tradnl" altLang="en-US"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Unidad I. </a:t>
            </a:r>
            <a:r>
              <a:rPr lang="es-MX" sz="2800" b="1">
                <a:latin typeface="Calibri" panose="020F0502020204030204" pitchFamily="34" charset="0"/>
                <a:cs typeface="Calibri" panose="020F0502020204030204" pitchFamily="34" charset="0"/>
              </a:rPr>
              <a:t>Introducción al aprendizaje profundo</a:t>
            </a:r>
            <a:r>
              <a:rPr lang="es-MX" altLang="en-US"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1"/>
            <a:r>
              <a:rPr lang="es-MX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1.1 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Definición y motivación detrás del aprendizaje profundo.</a:t>
            </a:r>
            <a:endParaRPr lang="es-MX" altLang="en-US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lvl="1"/>
            <a:r>
              <a:rPr lang="es-MX" altLang="en-US">
                <a:latin typeface="Calibri" pitchFamily="34" charset="0"/>
                <a:ea typeface="Calibri" pitchFamily="34" charset="0"/>
                <a:cs typeface="Calibri" pitchFamily="34" charset="0"/>
              </a:rPr>
              <a:t>1.2 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Diferencias entre el aprendizaje profundo y otros enfoques de aprendizaje automático</a:t>
            </a:r>
            <a:r>
              <a:rPr lang="es-MX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lvl="1"/>
            <a:r>
              <a:rPr lang="es-MX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1.3 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Aplicaciones del aprendizaje profundo.</a:t>
            </a:r>
          </a:p>
          <a:p>
            <a:pPr lvl="1"/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1.4 Arquitecturas (CNN, RNN, GAN, etc.)</a:t>
            </a:r>
          </a:p>
          <a:p>
            <a:pPr lvl="1"/>
            <a:endParaRPr lang="es-MX" altLang="en-US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n-US">
                <a:latin typeface="Calibri" pitchFamily="34" charset="0"/>
                <a:ea typeface="Calibri" pitchFamily="34" charset="0"/>
                <a:cs typeface="Calibri" pitchFamily="34" charset="0"/>
              </a:rPr>
              <a:t>Introducción - Motivación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3360" y="1300956"/>
            <a:ext cx="10363200" cy="4876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s-MX" sz="2800"/>
              <a:t>¿Qué tienen en común Netflix, Siri o Alexa, ChatGPT, Tesla y un sistema de diagnóstico médico por imagen? </a:t>
            </a:r>
          </a:p>
          <a:p>
            <a:pPr lvl="1">
              <a:lnSpc>
                <a:spcPct val="130000"/>
              </a:lnSpc>
            </a:pPr>
            <a:r>
              <a:rPr lang="es-MX" sz="2800"/>
              <a:t>Todos ellos utilizan modelos de aprendizaje profundo (deep learning) como tecnología central.</a:t>
            </a:r>
          </a:p>
          <a:p>
            <a:pPr lvl="1"/>
            <a:endParaRPr lang="es-MX" altLang="en-US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pic>
        <p:nvPicPr>
          <p:cNvPr id="2050" name="Picture 2" descr="Output image">
            <a:extLst>
              <a:ext uri="{FF2B5EF4-FFF2-40B4-BE49-F238E27FC236}">
                <a16:creationId xmlns:a16="http://schemas.microsoft.com/office/drawing/2014/main" id="{518E1C80-820A-2DE9-952F-8944D05B5F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05" b="14120"/>
          <a:stretch>
            <a:fillRect/>
          </a:stretch>
        </p:blipFill>
        <p:spPr bwMode="auto">
          <a:xfrm>
            <a:off x="0" y="3861047"/>
            <a:ext cx="12192000" cy="2550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96493B-BEE2-952E-9CF4-099F9EFF7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Ejemplo de un vehículo autónomo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1C6EFB3-8FFA-9EE2-8981-5A9F8AD68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/>
              <a:t>Ver video de vehículo autónomo en la red.</a:t>
            </a:r>
          </a:p>
          <a:p>
            <a:pPr lvl="1"/>
            <a:r>
              <a:rPr lang="es-MX">
                <a:hlinkClick r:id="rId2"/>
              </a:rPr>
              <a:t>https://www.tesla.com/es_mx/fsd</a:t>
            </a:r>
            <a:r>
              <a:rPr lang="es-MX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377827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n-US">
                <a:latin typeface="Calibri" pitchFamily="34" charset="0"/>
                <a:ea typeface="Calibri" pitchFamily="34" charset="0"/>
                <a:cs typeface="Calibri" pitchFamily="34" charset="0"/>
              </a:rPr>
              <a:t>Detección de objetos y estimación de parámetros</a:t>
            </a:r>
          </a:p>
        </p:txBody>
      </p:sp>
      <p:graphicFrame>
        <p:nvGraphicFramePr>
          <p:cNvPr id="922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6475501"/>
              </p:ext>
            </p:extLst>
          </p:nvPr>
        </p:nvGraphicFramePr>
        <p:xfrm>
          <a:off x="11009898" y="20714"/>
          <a:ext cx="1154113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n de mapa de bits" r:id="rId2" imgW="1203810" imgH="1150476" progId="PBrush">
                  <p:embed/>
                </p:oleObj>
              </mc:Choice>
              <mc:Fallback>
                <p:oleObj name="Imagen de mapa de bits" r:id="rId2" imgW="1203810" imgH="1150476" progId="PBrush">
                  <p:embed/>
                  <p:pic>
                    <p:nvPicPr>
                      <p:cNvPr id="922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09898" y="20714"/>
                        <a:ext cx="1154113" cy="1154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D6131C-F7DE-D4EA-8930-27C486810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3074" name="Picture 2" descr="__wf_reserved_inherit">
            <a:extLst>
              <a:ext uri="{FF2B5EF4-FFF2-40B4-BE49-F238E27FC236}">
                <a16:creationId xmlns:a16="http://schemas.microsoft.com/office/drawing/2014/main" id="{DA09712B-12C9-4908-6A69-5580DE87B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03512" y="1363362"/>
            <a:ext cx="8271335" cy="4651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1757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n-US">
                <a:latin typeface="Calibri" pitchFamily="34" charset="0"/>
                <a:ea typeface="Calibri" pitchFamily="34" charset="0"/>
                <a:cs typeface="Calibri" pitchFamily="34" charset="0"/>
              </a:rPr>
              <a:t>Diagnóstico por images usando IA</a:t>
            </a:r>
          </a:p>
        </p:txBody>
      </p:sp>
      <p:graphicFrame>
        <p:nvGraphicFramePr>
          <p:cNvPr id="922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145612"/>
              </p:ext>
            </p:extLst>
          </p:nvPr>
        </p:nvGraphicFramePr>
        <p:xfrm>
          <a:off x="10992544" y="0"/>
          <a:ext cx="1154113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n de mapa de bits" r:id="rId2" imgW="1203810" imgH="1150476" progId="PBrush">
                  <p:embed/>
                </p:oleObj>
              </mc:Choice>
              <mc:Fallback>
                <p:oleObj name="Imagen de mapa de bits" r:id="rId2" imgW="1203810" imgH="1150476" progId="PBrush">
                  <p:embed/>
                  <p:pic>
                    <p:nvPicPr>
                      <p:cNvPr id="922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92544" y="0"/>
                        <a:ext cx="1154113" cy="1154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D5F162-2B7A-7493-CC4E-BC18E9051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6FABFB4-C425-5591-C165-46F36DE0C44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336" y="1681915"/>
            <a:ext cx="5976664" cy="349416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234EDA4-CB47-CAA0-2206-E1177DC3F44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12024" y="1372270"/>
            <a:ext cx="5615575" cy="3970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549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17537-3F7E-1113-FF7D-77B01A320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8FF2EFDC-FDB3-1F02-1BD8-9F3425E700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188640"/>
            <a:ext cx="10363200" cy="685800"/>
          </a:xfrm>
        </p:spPr>
        <p:txBody>
          <a:bodyPr/>
          <a:lstStyle/>
          <a:p>
            <a:r>
              <a:rPr lang="es-ES" altLang="en-US">
                <a:latin typeface="Calibri" pitchFamily="34" charset="0"/>
                <a:ea typeface="Calibri" pitchFamily="34" charset="0"/>
                <a:cs typeface="Calibri" pitchFamily="34" charset="0"/>
              </a:rPr>
              <a:t>Aprendizaje automático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3353AF0C-266A-41E3-68FD-14C239A635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0884" y="990600"/>
            <a:ext cx="10870232" cy="4876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Aprendizaje automático (machine learning):</a:t>
            </a:r>
          </a:p>
          <a:p>
            <a:pPr lvl="1">
              <a:lnSpc>
                <a:spcPct val="130000"/>
              </a:lnSpc>
            </a:pPr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Es un enfoque donde los sistemas aprenden patrones a partir de datos (mediante un algoritmo), sin ser explícitamente programados para cada tarea, es decir que aprende las reglas a partir de los datos. Los datos de entrada son características extraídas de señales, imágenes, datos estructurados, etc. </a:t>
            </a:r>
          </a:p>
          <a:p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Ejemplo: </a:t>
            </a:r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Programación tradicional (sin ML):</a:t>
            </a:r>
          </a:p>
          <a:p>
            <a:pPr lvl="1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Un programador escribe reglas explícitas basadas en conocimiento clínico, por ejemplo:</a:t>
            </a:r>
          </a:p>
          <a:p>
            <a:pPr lvl="2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“Si el intervalo RR es menor a 0.6 s o mayor a 1.2 s → posible arritmia”</a:t>
            </a:r>
          </a:p>
          <a:p>
            <a:pPr lvl="2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“Si el complejo QRS dura más de 120 ms → latido anómalo”</a:t>
            </a:r>
          </a:p>
          <a:p>
            <a:pPr lvl="2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“Si no se detecta onda P antes del QRS → posible fibrilación auricular”</a:t>
            </a:r>
          </a:p>
          <a:p>
            <a:pPr lvl="2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“Si hay variaciones fuertes de RR consecutivas → marcar irregularidad”</a:t>
            </a:r>
          </a:p>
          <a:p>
            <a:pPr lvl="1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En resumen: el humano define las reglas y el sistema solo las ejecuta.</a:t>
            </a:r>
          </a:p>
          <a:p>
            <a:pPr lvl="1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Problema: en ECG real hay ruido, variabilidad entre pacientes y patrones complejos que no caben bien en reglas rígidas.</a:t>
            </a:r>
          </a:p>
          <a:p>
            <a:pPr>
              <a:lnSpc>
                <a:spcPct val="130000"/>
              </a:lnSpc>
            </a:pPr>
            <a:endParaRPr lang="es-MX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5328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88640"/>
            <a:ext cx="10363200" cy="685800"/>
          </a:xfrm>
        </p:spPr>
        <p:txBody>
          <a:bodyPr/>
          <a:lstStyle/>
          <a:p>
            <a:r>
              <a:rPr lang="es-ES" altLang="en-US">
                <a:latin typeface="Calibri" pitchFamily="34" charset="0"/>
                <a:ea typeface="Calibri" pitchFamily="34" charset="0"/>
                <a:cs typeface="Calibri" pitchFamily="34" charset="0"/>
              </a:rPr>
              <a:t>Aprendizaje automático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0884" y="990600"/>
            <a:ext cx="10870232" cy="4876800"/>
          </a:xfrm>
        </p:spPr>
        <p:txBody>
          <a:bodyPr/>
          <a:lstStyle/>
          <a:p>
            <a:pPr lvl="1"/>
            <a:r>
              <a:rPr lang="es-MX" sz="1800" b="1"/>
              <a:t>Aprendizaje automático:</a:t>
            </a:r>
          </a:p>
          <a:p>
            <a:pPr lvl="2">
              <a:lnSpc>
                <a:spcPct val="130000"/>
              </a:lnSpc>
            </a:pPr>
            <a:r>
              <a:rPr lang="es-MX" sz="1800"/>
              <a:t>Ahora, en vez de reglas, se le da al sistema un conjunto de entrenamiento:</a:t>
            </a:r>
          </a:p>
          <a:p>
            <a:pPr lvl="3">
              <a:lnSpc>
                <a:spcPct val="130000"/>
              </a:lnSpc>
            </a:pPr>
            <a:r>
              <a:rPr lang="es-MX" sz="1600"/>
              <a:t>Miles de segmentos de ECG</a:t>
            </a:r>
          </a:p>
          <a:p>
            <a:pPr lvl="3">
              <a:lnSpc>
                <a:spcPct val="130000"/>
              </a:lnSpc>
            </a:pPr>
            <a:r>
              <a:rPr lang="es-MX" sz="1600"/>
              <a:t>Cada uno etiquetado como: Normal, PVC, AFib, bloqueo, etc.</a:t>
            </a:r>
            <a:endParaRPr lang="es-MX" sz="1800"/>
          </a:p>
          <a:p>
            <a:pPr lvl="2">
              <a:lnSpc>
                <a:spcPct val="130000"/>
              </a:lnSpc>
            </a:pPr>
            <a:r>
              <a:rPr lang="es-MX" sz="1800"/>
              <a:t>El modelo hace lo siguiente:</a:t>
            </a:r>
          </a:p>
          <a:p>
            <a:pPr lvl="3">
              <a:lnSpc>
                <a:spcPct val="130000"/>
              </a:lnSpc>
            </a:pPr>
            <a:r>
              <a:rPr lang="es-MX" sz="1800"/>
              <a:t>Aprende automáticamente patrones en la forma del ECG:</a:t>
            </a:r>
          </a:p>
          <a:p>
            <a:pPr lvl="4">
              <a:lnSpc>
                <a:spcPct val="130000"/>
              </a:lnSpc>
            </a:pPr>
            <a:r>
              <a:rPr lang="es-MX" sz="1800"/>
              <a:t>morfología del QRS</a:t>
            </a:r>
          </a:p>
          <a:p>
            <a:pPr lvl="4">
              <a:lnSpc>
                <a:spcPct val="130000"/>
              </a:lnSpc>
            </a:pPr>
            <a:r>
              <a:rPr lang="es-MX" sz="1800"/>
              <a:t>presencia/ausencia de onda P</a:t>
            </a:r>
          </a:p>
          <a:p>
            <a:pPr lvl="4">
              <a:lnSpc>
                <a:spcPct val="130000"/>
              </a:lnSpc>
            </a:pPr>
            <a:r>
              <a:rPr lang="es-MX" sz="1800"/>
              <a:t>variabilidad RR</a:t>
            </a:r>
          </a:p>
          <a:p>
            <a:pPr lvl="4">
              <a:lnSpc>
                <a:spcPct val="130000"/>
              </a:lnSpc>
            </a:pPr>
            <a:r>
              <a:rPr lang="es-MX" sz="1800"/>
              <a:t>irregularidades sutiles que un conjunto de reglas no capturaría</a:t>
            </a:r>
          </a:p>
          <a:p>
            <a:pPr lvl="3">
              <a:lnSpc>
                <a:spcPct val="130000"/>
              </a:lnSpc>
            </a:pPr>
            <a:r>
              <a:rPr lang="es-MX" sz="1800"/>
              <a:t>Ajusta sus parámetros internos (pesos) para minimizar errores</a:t>
            </a:r>
          </a:p>
          <a:p>
            <a:pPr lvl="3">
              <a:lnSpc>
                <a:spcPct val="130000"/>
              </a:lnSpc>
            </a:pPr>
            <a:r>
              <a:rPr lang="es-MX" sz="1800"/>
              <a:t>Luego puede clasificar un ECG nuevo sin reglas explícitas</a:t>
            </a:r>
          </a:p>
          <a:p>
            <a:pPr lvl="1">
              <a:lnSpc>
                <a:spcPct val="130000"/>
              </a:lnSpc>
            </a:pPr>
            <a:r>
              <a:rPr lang="es-MX" sz="1800"/>
              <a:t> En resumen: el humano no define reglas; define datos + objetivo, y el modelo aprende la lógica.</a:t>
            </a:r>
          </a:p>
        </p:txBody>
      </p:sp>
    </p:spTree>
    <p:extLst>
      <p:ext uri="{BB962C8B-B14F-4D97-AF65-F5344CB8AC3E}">
        <p14:creationId xmlns:p14="http://schemas.microsoft.com/office/powerpoint/2010/main" val="4266141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FEE12-CE50-7362-ED8B-31B29AA34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FDCF5686-5A70-FFD3-5EFF-78A9F182A1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188640"/>
            <a:ext cx="10363200" cy="685800"/>
          </a:xfrm>
        </p:spPr>
        <p:txBody>
          <a:bodyPr/>
          <a:lstStyle/>
          <a:p>
            <a:r>
              <a:rPr lang="es-ES" altLang="en-US">
                <a:latin typeface="Calibri" pitchFamily="34" charset="0"/>
                <a:ea typeface="Calibri" pitchFamily="34" charset="0"/>
                <a:cs typeface="Calibri" pitchFamily="34" charset="0"/>
              </a:rPr>
              <a:t>Aprendizaje automático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6AA7FEB9-22AE-0420-A1C0-92463F943D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0884" y="990600"/>
            <a:ext cx="10870232" cy="4876800"/>
          </a:xfrm>
        </p:spPr>
        <p:txBody>
          <a:bodyPr/>
          <a:lstStyle/>
          <a:p>
            <a:r>
              <a:rPr lang="es-MX" sz="2200">
                <a:latin typeface="Calibri" panose="020F0502020204030204" pitchFamily="34" charset="0"/>
                <a:cs typeface="Calibri" panose="020F0502020204030204" pitchFamily="34" charset="0"/>
              </a:rPr>
              <a:t>En </a:t>
            </a:r>
            <a:r>
              <a:rPr lang="es-MX" sz="2200" b="1">
                <a:latin typeface="Calibri" panose="020F0502020204030204" pitchFamily="34" charset="0"/>
                <a:cs typeface="Calibri" panose="020F0502020204030204" pitchFamily="34" charset="0"/>
              </a:rPr>
              <a:t>Machine Learning clásico</a:t>
            </a:r>
            <a:r>
              <a:rPr lang="es-MX" sz="2200">
                <a:latin typeface="Calibri" panose="020F0502020204030204" pitchFamily="34" charset="0"/>
                <a:cs typeface="Calibri" panose="020F0502020204030204" pitchFamily="34" charset="0"/>
              </a:rPr>
              <a:t> (como </a:t>
            </a:r>
            <a:r>
              <a:rPr lang="es-MX" sz="2200" b="1">
                <a:latin typeface="Calibri" panose="020F0502020204030204" pitchFamily="34" charset="0"/>
                <a:cs typeface="Calibri" panose="020F0502020204030204" pitchFamily="34" charset="0"/>
              </a:rPr>
              <a:t>SVM, Random Forest, Logistic Regression, kNN, etc.</a:t>
            </a:r>
            <a:r>
              <a:rPr lang="es-MX" sz="2200">
                <a:latin typeface="Calibri" panose="020F0502020204030204" pitchFamily="34" charset="0"/>
                <a:cs typeface="Calibri" panose="020F0502020204030204" pitchFamily="34" charset="0"/>
              </a:rPr>
              <a:t>) normalmente el flujo es:</a:t>
            </a:r>
          </a:p>
          <a:p>
            <a:pPr lvl="1"/>
            <a:r>
              <a:rPr lang="es-MX" sz="2200" b="1">
                <a:latin typeface="Calibri" panose="020F0502020204030204" pitchFamily="34" charset="0"/>
                <a:cs typeface="Calibri" panose="020F0502020204030204" pitchFamily="34" charset="0"/>
              </a:rPr>
              <a:t>Señal cruda</a:t>
            </a:r>
            <a:endParaRPr lang="es-MX" sz="2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s-MX" sz="2200" b="1">
                <a:latin typeface="Calibri" panose="020F0502020204030204" pitchFamily="34" charset="0"/>
                <a:cs typeface="Calibri" panose="020F0502020204030204" pitchFamily="34" charset="0"/>
              </a:rPr>
              <a:t>Extracción de características (features)</a:t>
            </a:r>
            <a:r>
              <a:rPr lang="es-MX" sz="2200">
                <a:latin typeface="Calibri" panose="020F0502020204030204" pitchFamily="34" charset="0"/>
                <a:cs typeface="Calibri" panose="020F0502020204030204" pitchFamily="34" charset="0"/>
              </a:rPr>
              <a:t> hecha por humanos/algoritmos diseñados</a:t>
            </a:r>
          </a:p>
          <a:p>
            <a:pPr lvl="1"/>
            <a:r>
              <a:rPr lang="es-MX" sz="2200" b="1">
                <a:latin typeface="Calibri" panose="020F0502020204030204" pitchFamily="34" charset="0"/>
                <a:cs typeface="Calibri" panose="020F0502020204030204" pitchFamily="34" charset="0"/>
              </a:rPr>
              <a:t>Modelo ML</a:t>
            </a:r>
            <a:r>
              <a:rPr lang="es-MX" sz="2200">
                <a:latin typeface="Calibri" panose="020F0502020204030204" pitchFamily="34" charset="0"/>
                <a:cs typeface="Calibri" panose="020F0502020204030204" pitchFamily="34" charset="0"/>
              </a:rPr>
              <a:t> aprende a clasificar usando esas features</a:t>
            </a:r>
          </a:p>
          <a:p>
            <a:endParaRPr lang="es-MX" sz="2200" b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MX" sz="2200" b="1">
                <a:latin typeface="Calibri" panose="020F0502020204030204" pitchFamily="34" charset="0"/>
                <a:cs typeface="Calibri" panose="020F0502020204030204" pitchFamily="34" charset="0"/>
              </a:rPr>
              <a:t>El modelo no “ve” la señal directamente</a:t>
            </a:r>
            <a:r>
              <a:rPr lang="es-MX" sz="2200">
                <a:latin typeface="Calibri" panose="020F0502020204030204" pitchFamily="34" charset="0"/>
                <a:cs typeface="Calibri" panose="020F0502020204030204" pitchFamily="34" charset="0"/>
              </a:rPr>
              <a:t>, sino un </a:t>
            </a:r>
            <a:r>
              <a:rPr lang="es-MX" sz="2200" b="1">
                <a:latin typeface="Calibri" panose="020F0502020204030204" pitchFamily="34" charset="0"/>
                <a:cs typeface="Calibri" panose="020F0502020204030204" pitchFamily="34" charset="0"/>
              </a:rPr>
              <a:t>vector numérico de características</a:t>
            </a:r>
            <a:r>
              <a:rPr lang="es-MX" sz="220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s-MX" sz="2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MX" sz="2200">
                <a:latin typeface="Calibri" panose="020F0502020204030204" pitchFamily="34" charset="0"/>
                <a:cs typeface="Calibri" panose="020F0502020204030204" pitchFamily="34" charset="0"/>
              </a:rPr>
              <a:t>En ML clásico (SVM/Random Forest), el modelo aprende con características extraídas del ECG (RR, QRS, HRV, etc.).</a:t>
            </a:r>
          </a:p>
          <a:p>
            <a:r>
              <a:rPr lang="es-MX" sz="2200">
                <a:latin typeface="Calibri" panose="020F0502020204030204" pitchFamily="34" charset="0"/>
                <a:cs typeface="Calibri" panose="020F0502020204030204" pitchFamily="34" charset="0"/>
              </a:rPr>
              <a:t>En Deep Learning, el modelo aprende directamente de la señal cruda y automáticamente descubre las características.</a:t>
            </a:r>
          </a:p>
        </p:txBody>
      </p:sp>
    </p:spTree>
    <p:extLst>
      <p:ext uri="{BB962C8B-B14F-4D97-AF65-F5344CB8AC3E}">
        <p14:creationId xmlns:p14="http://schemas.microsoft.com/office/powerpoint/2010/main" val="308614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DE2DCE-D4C0-DDF1-1215-B4ADC23DF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n-US">
                <a:latin typeface="Calibri" pitchFamily="34" charset="0"/>
                <a:ea typeface="Calibri" pitchFamily="34" charset="0"/>
                <a:cs typeface="Calibri" pitchFamily="34" charset="0"/>
              </a:rPr>
              <a:t>Aprendizaje Profundo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2F7D4A-B436-5880-2A94-9B2AB41E2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00" y="1295400"/>
            <a:ext cx="10873208" cy="4876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s-MX" b="1"/>
              <a:t>Aprendizaje profundo (deep learning): </a:t>
            </a:r>
          </a:p>
          <a:p>
            <a:r>
              <a:rPr lang="es-MX" sz="2000"/>
              <a:t>Es una subárea del aprendizaje automático que utiliza redes neuronales con muchas capas (profundas) para aprender representaciones jerárquicas de los datos. Significa que un modelo de aprendizaje profundo </a:t>
            </a:r>
            <a:r>
              <a:rPr lang="es-MX" sz="2000" b="1"/>
              <a:t>aprende progresivamente características de bajo a alto nivel</a:t>
            </a:r>
            <a:r>
              <a:rPr lang="es-MX" sz="2000"/>
              <a:t>, </a:t>
            </a:r>
            <a:r>
              <a:rPr lang="es-MX" sz="2000" b="1"/>
              <a:t>paso a paso</a:t>
            </a:r>
            <a:r>
              <a:rPr lang="es-MX" sz="2000"/>
              <a:t>, a través de sus capas.</a:t>
            </a:r>
          </a:p>
          <a:p>
            <a:r>
              <a:rPr lang="es-MX" sz="2000"/>
              <a:t>Cada </a:t>
            </a:r>
            <a:r>
              <a:rPr lang="es-MX" sz="2000" b="1"/>
              <a:t>capa</a:t>
            </a:r>
            <a:r>
              <a:rPr lang="es-MX" sz="2000"/>
              <a:t> de la red transforma los datos y </a:t>
            </a:r>
            <a:r>
              <a:rPr lang="es-MX" sz="2000" b="1"/>
              <a:t>extrae una representación cada vez más abstracta</a:t>
            </a:r>
            <a:r>
              <a:rPr lang="es-MX" sz="2000"/>
              <a:t> de la entrada original.</a:t>
            </a:r>
          </a:p>
          <a:p>
            <a:endParaRPr lang="es-MX" sz="2000"/>
          </a:p>
          <a:p>
            <a:pPr lvl="1">
              <a:lnSpc>
                <a:spcPct val="130000"/>
              </a:lnSpc>
            </a:pPr>
            <a:endParaRPr lang="es-ES" altLang="en-US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s-MX" sz="200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6F342C44-5184-E274-15F8-BB11BA8777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332361"/>
              </p:ext>
            </p:extLst>
          </p:nvPr>
        </p:nvGraphicFramePr>
        <p:xfrm>
          <a:off x="907418" y="4606270"/>
          <a:ext cx="10365146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160240">
                  <a:extLst>
                    <a:ext uri="{9D8B030D-6E8A-4147-A177-3AD203B41FA5}">
                      <a16:colId xmlns:a16="http://schemas.microsoft.com/office/drawing/2014/main" val="4069781350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1111568778"/>
                    </a:ext>
                  </a:extLst>
                </a:gridCol>
                <a:gridCol w="5324586">
                  <a:extLst>
                    <a:ext uri="{9D8B030D-6E8A-4147-A177-3AD203B41FA5}">
                      <a16:colId xmlns:a16="http://schemas.microsoft.com/office/drawing/2014/main" val="14226108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Capa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¿Qué aprende?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b="1"/>
                        <a:t>Ejemplo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2043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Capa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b="1"/>
                        <a:t>Bordes y líneas</a:t>
                      </a:r>
                      <a:endParaRPr lang="es-MX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Horizontales, verticales, diagonales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5259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Capa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b="1"/>
                        <a:t>Formas simples</a:t>
                      </a:r>
                      <a:endParaRPr lang="es-MX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Orejas puntiagudas, círculos (ojos)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1836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Capa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b="1"/>
                        <a:t>Partes del objeto</a:t>
                      </a:r>
                      <a:endParaRPr lang="es-MX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Cara de gato, cuerpo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90137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Capa 4+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b="1"/>
                        <a:t>Objeto completo</a:t>
                      </a:r>
                      <a:endParaRPr lang="es-MX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“Esto es un gato”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8193479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E6315665-F4E2-F8D9-D7A3-869905797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418" y="3827094"/>
            <a:ext cx="658385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800">
                <a:latin typeface="Arial" panose="020B0604020202020204" pitchFamily="34" charset="0"/>
              </a:rPr>
              <a:t>Supongamos que le damos </a:t>
            </a: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una red una </a:t>
            </a:r>
            <a:r>
              <a:rPr kumimoji="0" lang="es-MX" altLang="es-MX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imagen de un gato</a:t>
            </a: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medida que los datos pasan por las capas de la red: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2245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845803-F879-365C-6DC7-5F2EB7756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n-US">
                <a:latin typeface="Calibri" pitchFamily="34" charset="0"/>
                <a:ea typeface="Calibri" pitchFamily="34" charset="0"/>
                <a:cs typeface="Calibri" pitchFamily="34" charset="0"/>
              </a:rPr>
              <a:t>Aprendizaje Profundo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9D3C4C-A98C-4443-09F2-ED9224B4D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9FEC5A7-109C-0188-2CB8-6FB3E1DC955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151" b="2202"/>
          <a:stretch>
            <a:fillRect/>
          </a:stretch>
        </p:blipFill>
        <p:spPr>
          <a:xfrm>
            <a:off x="-15014" y="1371599"/>
            <a:ext cx="12192000" cy="4800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058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720246-FD83-C563-71B8-9FF1BCACA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Aprendizaje profundo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9D8E40-194D-C701-37C4-A081ADE5F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¿Que lo hace atractivo?</a:t>
            </a:r>
          </a:p>
          <a:p>
            <a:pPr lvl="1"/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No es necesario decirle qué buscar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 (como en ML tradicional). Es decir, no es requerido pasarle características al modelo. </a:t>
            </a:r>
          </a:p>
          <a:p>
            <a:pPr lvl="1"/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La red </a:t>
            </a:r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descubre por sí sola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 las características importantes para resolver la tarea.</a:t>
            </a:r>
          </a:p>
          <a:p>
            <a:pPr lvl="1"/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Funciona muy bien con datos complejos: imágenes, audio, texto, video.</a:t>
            </a:r>
          </a:p>
          <a:p>
            <a:endParaRPr lang="es-MX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5708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n-US">
                <a:latin typeface="Calibri" pitchFamily="34" charset="0"/>
                <a:ea typeface="Calibri" pitchFamily="34" charset="0"/>
                <a:cs typeface="Calibri" pitchFamily="34" charset="0"/>
              </a:rPr>
              <a:t>Machine learning vs. deep learning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</a:pPr>
            <a:endParaRPr lang="es-ES" altLang="en-US" sz="2200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292A65F-91B4-473F-BB8D-D6320C57BF8F}"/>
                  </a:ext>
                </a:extLst>
              </p14:cNvPr>
              <p14:cNvContentPartPr/>
              <p14:nvPr/>
            </p14:nvContentPartPr>
            <p14:xfrm>
              <a:off x="4527720" y="2222640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292A65F-91B4-473F-BB8D-D6320C57BF8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511880" y="2159280"/>
                <a:ext cx="31680" cy="12708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DBFD3E78-777B-3155-9FE9-95801F9E5F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692789"/>
              </p:ext>
            </p:extLst>
          </p:nvPr>
        </p:nvGraphicFramePr>
        <p:xfrm>
          <a:off x="914400" y="1630680"/>
          <a:ext cx="10363200" cy="420624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3454400">
                  <a:extLst>
                    <a:ext uri="{9D8B030D-6E8A-4147-A177-3AD203B41FA5}">
                      <a16:colId xmlns:a16="http://schemas.microsoft.com/office/drawing/2014/main" val="2105359559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427794519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20704596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Aspecto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b="1"/>
                        <a:t>Machine Learning (ML)</a:t>
                      </a:r>
                      <a:endParaRPr lang="es-MX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b="1"/>
                        <a:t>Deep Learning (DL)</a:t>
                      </a:r>
                      <a:endParaRPr lang="es-MX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87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¿Qué es?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Subcampo de la inteligencia artificial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Subcampo dentro del machine learning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2805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Características clave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Usa algoritmos que </a:t>
                      </a:r>
                      <a:r>
                        <a:rPr lang="es-MX" b="1"/>
                        <a:t>necesitan features diseñadas manualmente</a:t>
                      </a:r>
                      <a:endParaRPr lang="es-MX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Usa </a:t>
                      </a:r>
                      <a:r>
                        <a:rPr lang="es-MX" b="1"/>
                        <a:t>redes neuronales profundas</a:t>
                      </a:r>
                      <a:r>
                        <a:rPr lang="es-MX"/>
                        <a:t> que </a:t>
                      </a:r>
                      <a:r>
                        <a:rPr lang="es-MX" b="1"/>
                        <a:t>aprenden automáticamente</a:t>
                      </a:r>
                      <a:r>
                        <a:rPr lang="es-MX"/>
                        <a:t> esas características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9178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Requiere extracción de características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Sí, el humano las diseña (ej: color, tamaño)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No, la red las aprende sola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0162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Necesidad de datos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Moderada (miles)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Alta (decenas o cientos de miles)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7988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Computo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Bajo o moderado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Alto (GPU o TPU)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2093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Interpretabilidad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Generalmente mayor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Menor (caja negra)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775168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C3FCD-4EE0-5228-D7F0-E2F6D33E5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D02F0F5-907D-F7B9-D0F8-2754387930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n-US">
                <a:latin typeface="Calibri" pitchFamily="34" charset="0"/>
                <a:ea typeface="Calibri" pitchFamily="34" charset="0"/>
                <a:cs typeface="Calibri" pitchFamily="34" charset="0"/>
              </a:rPr>
              <a:t>Machine learning vs. deep learning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C625B580-F4FE-545A-CDA0-62F8313BFD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</a:pP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Ejemplo: Clasificación de imágenes de perros y gatos</a:t>
            </a:r>
          </a:p>
          <a:p>
            <a:pPr algn="just">
              <a:lnSpc>
                <a:spcPct val="120000"/>
              </a:lnSpc>
            </a:pPr>
            <a:r>
              <a:rPr lang="es-MX" altLang="en-US" sz="2200">
                <a:latin typeface="Calibri" pitchFamily="34" charset="0"/>
                <a:ea typeface="Calibri" pitchFamily="34" charset="0"/>
                <a:cs typeface="Calibri" pitchFamily="34" charset="0"/>
              </a:rPr>
              <a:t>Con Machine Learning tradicional: Tú extraes manualmente características de las imágenes:</a:t>
            </a:r>
          </a:p>
          <a:p>
            <a:pPr lvl="1" algn="just">
              <a:lnSpc>
                <a:spcPct val="120000"/>
              </a:lnSpc>
            </a:pPr>
            <a:r>
              <a:rPr lang="es-MX" altLang="en-US" sz="2200">
                <a:latin typeface="Calibri" pitchFamily="34" charset="0"/>
                <a:ea typeface="Calibri" pitchFamily="34" charset="0"/>
                <a:cs typeface="Calibri" pitchFamily="34" charset="0"/>
              </a:rPr>
              <a:t>Tamaño de las orejas,</a:t>
            </a:r>
          </a:p>
          <a:p>
            <a:pPr lvl="1" algn="just">
              <a:lnSpc>
                <a:spcPct val="120000"/>
              </a:lnSpc>
            </a:pPr>
            <a:r>
              <a:rPr lang="es-MX" altLang="en-US" sz="2200">
                <a:latin typeface="Calibri" pitchFamily="34" charset="0"/>
                <a:ea typeface="Calibri" pitchFamily="34" charset="0"/>
                <a:cs typeface="Calibri" pitchFamily="34" charset="0"/>
              </a:rPr>
              <a:t>Proporción entre cabeza y cuerpo,</a:t>
            </a:r>
          </a:p>
          <a:p>
            <a:pPr lvl="1" algn="just">
              <a:lnSpc>
                <a:spcPct val="120000"/>
              </a:lnSpc>
            </a:pPr>
            <a:r>
              <a:rPr lang="es-MX" altLang="en-US" sz="2200">
                <a:latin typeface="Calibri" pitchFamily="34" charset="0"/>
                <a:ea typeface="Calibri" pitchFamily="34" charset="0"/>
                <a:cs typeface="Calibri" pitchFamily="34" charset="0"/>
              </a:rPr>
              <a:t>Textura del pelaje, etc.</a:t>
            </a:r>
          </a:p>
          <a:p>
            <a:pPr algn="just">
              <a:lnSpc>
                <a:spcPct val="120000"/>
              </a:lnSpc>
            </a:pPr>
            <a:r>
              <a:rPr lang="es-MX" altLang="en-US" sz="2200">
                <a:latin typeface="Calibri" pitchFamily="34" charset="0"/>
                <a:ea typeface="Calibri" pitchFamily="34" charset="0"/>
                <a:cs typeface="Calibri" pitchFamily="34" charset="0"/>
              </a:rPr>
              <a:t>Luego, entrenas un modelo como un SVM o árbol de decisión con esas características. </a:t>
            </a:r>
          </a:p>
          <a:p>
            <a:pPr algn="just">
              <a:lnSpc>
                <a:spcPct val="120000"/>
              </a:lnSpc>
            </a:pPr>
            <a:r>
              <a:rPr lang="es-MX" altLang="en-US" sz="2200">
                <a:latin typeface="Calibri" pitchFamily="34" charset="0"/>
                <a:ea typeface="Calibri" pitchFamily="34" charset="0"/>
                <a:cs typeface="Calibri" pitchFamily="34" charset="0"/>
              </a:rPr>
              <a:t>Problema: si las imágenes cambian (ángulo, luz), esas características no siempre funcionan.</a:t>
            </a:r>
            <a:endParaRPr lang="es-ES" alt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513707F-1DE1-5D5D-E24D-8387E338E5E0}"/>
                  </a:ext>
                </a:extLst>
              </p14:cNvPr>
              <p14:cNvContentPartPr/>
              <p14:nvPr/>
            </p14:nvContentPartPr>
            <p14:xfrm>
              <a:off x="4527720" y="2222640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292A65F-91B4-473F-BB8D-D6320C57BF8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511880" y="2159280"/>
                <a:ext cx="31680" cy="12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3665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CB590-635A-8095-F337-0EF4FA31A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8173593-A8FD-210A-046D-0BBBEE5A26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n-US">
                <a:latin typeface="Calibri" pitchFamily="34" charset="0"/>
                <a:ea typeface="Calibri" pitchFamily="34" charset="0"/>
                <a:cs typeface="Calibri" pitchFamily="34" charset="0"/>
              </a:rPr>
              <a:t>Machine learning vs. deep learning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88C4B2AF-E0A2-F6E3-430C-CCFA7A825B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</a:pP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Ejemplo: Clasificación de imágenes de perros y gatos</a:t>
            </a:r>
          </a:p>
          <a:p>
            <a:pPr algn="just">
              <a:lnSpc>
                <a:spcPct val="120000"/>
              </a:lnSpc>
            </a:pPr>
            <a:r>
              <a:rPr lang="es-MX" sz="2000"/>
              <a:t>Con Deep Learning (CNN)</a:t>
            </a:r>
            <a:r>
              <a:rPr lang="es-MX" altLang="en-US" sz="2200">
                <a:latin typeface="Calibri" pitchFamily="34" charset="0"/>
                <a:ea typeface="Calibri" pitchFamily="34" charset="0"/>
                <a:cs typeface="Calibri" pitchFamily="34" charset="0"/>
              </a:rPr>
              <a:t>:  Le das a la red directamente las imágenes (pixeles). </a:t>
            </a:r>
            <a:r>
              <a:rPr lang="es-MX" sz="2000"/>
              <a:t>La red </a:t>
            </a:r>
            <a:r>
              <a:rPr lang="es-MX" sz="2000" b="1"/>
              <a:t>aprende sola</a:t>
            </a:r>
            <a:r>
              <a:rPr lang="es-MX" sz="2000"/>
              <a:t>:</a:t>
            </a:r>
            <a:endParaRPr lang="es-MX" altLang="en-US" sz="220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lvl="1" algn="just">
              <a:lnSpc>
                <a:spcPct val="120000"/>
              </a:lnSpc>
            </a:pPr>
            <a:r>
              <a:rPr lang="es-MX" sz="1800"/>
              <a:t>Qué bordes son importantes</a:t>
            </a:r>
            <a:r>
              <a:rPr lang="es-MX" altLang="en-US" sz="2000">
                <a:latin typeface="Calibri" pitchFamily="34" charset="0"/>
                <a:ea typeface="Calibri" pitchFamily="34" charset="0"/>
                <a:cs typeface="Calibri" pitchFamily="34" charset="0"/>
              </a:rPr>
              <a:t>,</a:t>
            </a:r>
          </a:p>
          <a:p>
            <a:pPr lvl="1" algn="just">
              <a:lnSpc>
                <a:spcPct val="120000"/>
              </a:lnSpc>
            </a:pPr>
            <a:r>
              <a:rPr lang="es-MX" sz="1800"/>
              <a:t>Qué formas indican orejas de gato o la boca del perro</a:t>
            </a:r>
            <a:r>
              <a:rPr lang="es-MX" altLang="en-US" sz="2000">
                <a:latin typeface="Calibri" pitchFamily="34" charset="0"/>
                <a:ea typeface="Calibri" pitchFamily="34" charset="0"/>
                <a:cs typeface="Calibri" pitchFamily="34" charset="0"/>
              </a:rPr>
              <a:t>,</a:t>
            </a:r>
          </a:p>
          <a:p>
            <a:pPr lvl="1" algn="just">
              <a:lnSpc>
                <a:spcPct val="120000"/>
              </a:lnSpc>
            </a:pPr>
            <a:r>
              <a:rPr lang="es-MX" sz="1800"/>
              <a:t>Qué texturas están relacionadas con cada clase</a:t>
            </a:r>
            <a:r>
              <a:rPr lang="es-MX" altLang="en-US" sz="2000">
                <a:latin typeface="Calibri" pitchFamily="34" charset="0"/>
                <a:ea typeface="Calibri" pitchFamily="34" charset="0"/>
                <a:cs typeface="Calibri" pitchFamily="34" charset="0"/>
              </a:rPr>
              <a:t>, etc.</a:t>
            </a:r>
          </a:p>
          <a:p>
            <a:pPr lvl="1" algn="just">
              <a:lnSpc>
                <a:spcPct val="120000"/>
              </a:lnSpc>
            </a:pPr>
            <a:r>
              <a:rPr lang="es-MX" sz="1800"/>
              <a:t>No diseñas características</a:t>
            </a:r>
            <a:endParaRPr lang="es-MX" altLang="en-US" sz="200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s-MX" sz="2000"/>
              <a:t>Resultado: mejor rendimiento en tareas complejas y datos en bruto.</a:t>
            </a:r>
            <a:endParaRPr lang="es-MX" altLang="en-US" sz="220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algn="just">
              <a:lnSpc>
                <a:spcPct val="120000"/>
              </a:lnSpc>
            </a:pPr>
            <a:endParaRPr lang="es-MX" altLang="en-US" sz="220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s-MX" sz="2000" i="1"/>
              <a:t>Machine learning es como enseñar a alguien con una lista de cosas que debe buscar.</a:t>
            </a:r>
            <a:br>
              <a:rPr lang="es-MX" sz="2000" i="1"/>
            </a:br>
            <a:r>
              <a:rPr lang="es-MX" sz="2000" i="1"/>
              <a:t>Deep learning es como enseñarle con muchos ejemplos, hasta que </a:t>
            </a:r>
            <a:r>
              <a:rPr lang="es-MX" sz="2000" b="1" i="1"/>
              <a:t>él mismo aprende qué buscar</a:t>
            </a:r>
            <a:r>
              <a:rPr lang="es-MX" sz="2000" i="1"/>
              <a:t>.</a:t>
            </a:r>
            <a:endParaRPr lang="es-MX" altLang="en-US" sz="2200" i="1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41039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Red neuronal simple vs. red profunda</a:t>
            </a:r>
            <a:endParaRPr lang="es-ES" altLang="en-US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62C6A0E-4EE1-4FF0-96EB-40DA055AF144}"/>
                  </a:ext>
                </a:extLst>
              </p14:cNvPr>
              <p14:cNvContentPartPr/>
              <p14:nvPr/>
            </p14:nvContentPartPr>
            <p14:xfrm>
              <a:off x="5606280" y="3742200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62C6A0E-4EE1-4FF0-96EB-40DA055AF14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590440" y="3678840"/>
                <a:ext cx="316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5A8187B-C89E-4F83-92FD-E86CCD0F22BE}"/>
                  </a:ext>
                </a:extLst>
              </p14:cNvPr>
              <p14:cNvContentPartPr/>
              <p14:nvPr/>
            </p14:nvContentPartPr>
            <p14:xfrm>
              <a:off x="10074240" y="2830320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5A8187B-C89E-4F83-92FD-E86CCD0F22B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058400" y="2766960"/>
                <a:ext cx="316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D451B70-41FD-4164-8FAB-C54D0B3A2F62}"/>
                  </a:ext>
                </a:extLst>
              </p14:cNvPr>
              <p14:cNvContentPartPr/>
              <p14:nvPr/>
            </p14:nvContentPartPr>
            <p14:xfrm>
              <a:off x="9994680" y="2763360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D451B70-41FD-4164-8FAB-C54D0B3A2F6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978840" y="2700000"/>
                <a:ext cx="31680" cy="127080"/>
              </a:xfrm>
              <a:prstGeom prst="rect">
                <a:avLst/>
              </a:prstGeom>
            </p:spPr>
          </p:pic>
        </mc:Fallback>
      </mc:AlternateContent>
      <p:pic>
        <p:nvPicPr>
          <p:cNvPr id="11266" name="Picture 2">
            <a:extLst>
              <a:ext uri="{FF2B5EF4-FFF2-40B4-BE49-F238E27FC236}">
                <a16:creationId xmlns:a16="http://schemas.microsoft.com/office/drawing/2014/main" id="{D8695F5A-2FDB-8D5D-D422-7FA40B90DB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944" y="1300956"/>
            <a:ext cx="9187779" cy="499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E98732-3AC7-22BD-6BCB-035AF20B5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Aplicaciones del aprendizaje profundo</a:t>
            </a:r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8A40B429-1B7D-9211-486C-7E3E2C9CCE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5684174"/>
              </p:ext>
            </p:extLst>
          </p:nvPr>
        </p:nvGraphicFramePr>
        <p:xfrm>
          <a:off x="767408" y="1556792"/>
          <a:ext cx="10801200" cy="3960092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3600400">
                  <a:extLst>
                    <a:ext uri="{9D8B030D-6E8A-4147-A177-3AD203B41FA5}">
                      <a16:colId xmlns:a16="http://schemas.microsoft.com/office/drawing/2014/main" val="1110690210"/>
                    </a:ext>
                  </a:extLst>
                </a:gridCol>
                <a:gridCol w="3600400">
                  <a:extLst>
                    <a:ext uri="{9D8B030D-6E8A-4147-A177-3AD203B41FA5}">
                      <a16:colId xmlns:a16="http://schemas.microsoft.com/office/drawing/2014/main" val="3689840728"/>
                    </a:ext>
                  </a:extLst>
                </a:gridCol>
                <a:gridCol w="3600400">
                  <a:extLst>
                    <a:ext uri="{9D8B030D-6E8A-4147-A177-3AD203B41FA5}">
                      <a16:colId xmlns:a16="http://schemas.microsoft.com/office/drawing/2014/main" val="2228595307"/>
                    </a:ext>
                  </a:extLst>
                </a:gridCol>
              </a:tblGrid>
              <a:tr h="4061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Área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Aplicación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Modelo frecuente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6471673"/>
                  </a:ext>
                </a:extLst>
              </a:tr>
              <a:tr h="710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Visión por computadora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Detección de tumores, vehículos autónomos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CNN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713214"/>
                  </a:ext>
                </a:extLst>
              </a:tr>
              <a:tr h="710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Procesamiento de lenguaje natural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Chatbots, traducción automática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RNN, Transformer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9622791"/>
                  </a:ext>
                </a:extLst>
              </a:tr>
              <a:tr h="710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Bioinformática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Predicción de estructuras de proteínas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CNN, GNN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4969379"/>
                  </a:ext>
                </a:extLst>
              </a:tr>
              <a:tr h="710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Arte y música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Generación de imágenes/música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GAN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6584774"/>
                  </a:ext>
                </a:extLst>
              </a:tr>
              <a:tr h="710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Finanzas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Detección de fraudes, predicción de mercado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RNN, DL + series temporales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14147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72307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3958C-4CC1-E4A3-E5C9-045C1E404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C47934-0E0F-EA57-5F8B-A855F8F70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Aplicaciones del aprendizaje profundo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BAC06F0-8D4F-6E8B-9149-E7504A4D2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131" y="1303638"/>
            <a:ext cx="10363200" cy="4876800"/>
          </a:xfrm>
        </p:spPr>
        <p:txBody>
          <a:bodyPr/>
          <a:lstStyle/>
          <a:p>
            <a:r>
              <a:rPr lang="es-MX">
                <a:hlinkClick r:id="rId2"/>
              </a:rPr>
              <a:t>www.thispersondoesnotexist.com (1024×1024)</a:t>
            </a:r>
            <a:endParaRPr lang="es-MX"/>
          </a:p>
          <a:p>
            <a:r>
              <a:rPr lang="es-MX"/>
              <a:t>Ningunas de esta personas existe. Fueron generada por IA.</a:t>
            </a:r>
          </a:p>
          <a:p>
            <a:endParaRPr lang="es-MX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120A1B93-F1AB-BA43-E9CA-C00BD61CC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3447" y="2363688"/>
            <a:ext cx="3789040" cy="3789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>
            <a:extLst>
              <a:ext uri="{FF2B5EF4-FFF2-40B4-BE49-F238E27FC236}">
                <a16:creationId xmlns:a16="http://schemas.microsoft.com/office/drawing/2014/main" id="{F85B645C-E9CA-B9F7-1B1D-C77A1FBF9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01480" y="2376264"/>
            <a:ext cx="3789040" cy="3789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8" name="Picture 6">
            <a:extLst>
              <a:ext uri="{FF2B5EF4-FFF2-40B4-BE49-F238E27FC236}">
                <a16:creationId xmlns:a16="http://schemas.microsoft.com/office/drawing/2014/main" id="{4E2BF80F-9C61-6958-778D-3D687A63E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69513" y="2363688"/>
            <a:ext cx="3789040" cy="3789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4132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E3BD9-44F8-E8C6-9C8E-095F69476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30E870-2310-0C00-4160-7B108A518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25870"/>
            <a:ext cx="10363200" cy="685800"/>
          </a:xfrm>
        </p:spPr>
        <p:txBody>
          <a:bodyPr wrap="square" anchor="ctr">
            <a:normAutofit/>
          </a:bodyPr>
          <a:lstStyle/>
          <a:p>
            <a:r>
              <a:rPr lang="fr-FR" b="0"/>
              <a:t>Digital Retinal Images for Vessel Extraction</a:t>
            </a:r>
            <a:endParaRPr lang="es-MX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092E51C-09C1-326C-924C-9481E538580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871864" y="2030032"/>
            <a:ext cx="7318783" cy="4531925"/>
          </a:xfrm>
          <a:prstGeom prst="rect">
            <a:avLst/>
          </a:prstGeom>
          <a:noFill/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CC786BF-0B63-95F5-7847-39C8A0C1617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67" r="35073" b="-1167"/>
          <a:stretch>
            <a:fillRect/>
          </a:stretch>
        </p:blipFill>
        <p:spPr>
          <a:xfrm>
            <a:off x="24339" y="553615"/>
            <a:ext cx="6240016" cy="319087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1331DD0-0334-7AA8-191A-939A15B9E26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415480" y="3645024"/>
            <a:ext cx="2952328" cy="285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1420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1242CCE4-7113-9D70-93C4-40A389663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81000"/>
            <a:ext cx="10363200" cy="685800"/>
          </a:xfrm>
        </p:spPr>
        <p:txBody>
          <a:bodyPr/>
          <a:lstStyle/>
          <a:p>
            <a:r>
              <a:rPr lang="en-US"/>
              <a:t>Lo que se observa en un sistema de un vehículo autónomo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05D444B-44AA-ED79-9317-9580E4DABB0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"/>
          <a:stretch>
            <a:fillRect/>
          </a:stretch>
        </p:blipFill>
        <p:spPr>
          <a:xfrm>
            <a:off x="6632624" y="1219200"/>
            <a:ext cx="5080000" cy="4876800"/>
          </a:xfrm>
          <a:prstGeom prst="rect">
            <a:avLst/>
          </a:prstGeom>
          <a:noFill/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7BA74B7-A4D5-0544-94D0-C1999B27421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63352" y="1442492"/>
            <a:ext cx="6085790" cy="3973016"/>
          </a:xfrm>
          <a:prstGeom prst="rect">
            <a:avLst/>
          </a:prstGeom>
          <a:noFill/>
        </p:spPr>
      </p:pic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5DA8AA7-E6D2-2486-1AC1-6774D0F9B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456047"/>
            <a:ext cx="3860800" cy="285321"/>
          </a:xfrm>
        </p:spPr>
        <p:txBody>
          <a:bodyPr wrap="square" anchor="t">
            <a:normAutofit lnSpcReduction="10000"/>
          </a:bodyPr>
          <a:lstStyle/>
          <a:p>
            <a:pPr>
              <a:spcAft>
                <a:spcPts val="600"/>
              </a:spcAft>
            </a:pPr>
            <a:r>
              <a:rPr lang="es-MX" altLang="en-US"/>
              <a:t>RNP-2025      Dr. Jos</a:t>
            </a:r>
            <a:r>
              <a:rPr lang="es-VE" altLang="en-US"/>
              <a:t>é David Díaz Román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32238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11B79F-3984-D942-9675-310CD6081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Detección/segmentación de aneurismas intracraneales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C330B3-8094-D965-BF94-027E41C055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9C1E139-7794-A82D-F292-1CE1CF4281D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7ADD29-1DDF-15D9-8EAD-29F77E0BC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MX"/>
              <a:t>RNP-2025      Dr. José David Díaz Román</a:t>
            </a:r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7FEE5A2-FD1F-1955-004D-95BAAF52C0F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07569" y="1554797"/>
            <a:ext cx="7650788" cy="48250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98314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E5C31B-3DEC-126B-38EC-DA9113780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Arquitecturas principales de redes neuronales profundas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98AA0C-BDEC-9FE3-F7C5-8FF3F52D7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Perceptrón Multicapa (MLP)</a:t>
            </a:r>
          </a:p>
          <a:p>
            <a:pPr lvl="1"/>
            <a:r>
              <a:rPr lang="es-MX"/>
              <a:t>Red neuronal densa, útil para datos tabulares.</a:t>
            </a:r>
            <a:endParaRPr lang="es-MX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217277F-1963-43E9-6D6E-ACB7B06F18D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07154" y="2117314"/>
            <a:ext cx="6385190" cy="451486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FA0CC61-2313-913A-8365-B2203BBAE5F4}"/>
              </a:ext>
            </a:extLst>
          </p:cNvPr>
          <p:cNvSpPr txBox="1"/>
          <p:nvPr/>
        </p:nvSpPr>
        <p:spPr>
          <a:xfrm>
            <a:off x="1991544" y="4221088"/>
            <a:ext cx="1140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/>
              <a:t>Entrada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3C184A0-37EE-3BD0-2E65-4EB0A6C14EB4}"/>
              </a:ext>
            </a:extLst>
          </p:cNvPr>
          <p:cNvSpPr txBox="1"/>
          <p:nvPr/>
        </p:nvSpPr>
        <p:spPr>
          <a:xfrm>
            <a:off x="9060402" y="4143911"/>
            <a:ext cx="952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/>
              <a:t>Salida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CCD82ED-BC92-82C3-A720-233A8321D3F2}"/>
              </a:ext>
            </a:extLst>
          </p:cNvPr>
          <p:cNvSpPr txBox="1"/>
          <p:nvPr/>
        </p:nvSpPr>
        <p:spPr>
          <a:xfrm>
            <a:off x="5170514" y="6015335"/>
            <a:ext cx="18838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/>
              <a:t>Capas ocultas</a:t>
            </a:r>
          </a:p>
        </p:txBody>
      </p:sp>
    </p:spTree>
    <p:extLst>
      <p:ext uri="{BB962C8B-B14F-4D97-AF65-F5344CB8AC3E}">
        <p14:creationId xmlns:p14="http://schemas.microsoft.com/office/powerpoint/2010/main" val="2752576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24A1F-1BB9-0E0B-343B-8F5288E53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E788BB-D6B1-1CDE-6DDA-3B8F789A4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Arquitecturas principales de redes neuronales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3E4F7A-13B5-5E7D-255C-FE519B558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Perceptrón Multicapa (MLP)</a:t>
            </a:r>
          </a:p>
          <a:p>
            <a:r>
              <a:rPr lang="es-MX" sz="2000"/>
              <a:t>Ejemplo: Clasificar el tipo de flor (</a:t>
            </a:r>
            <a:r>
              <a:rPr lang="es-MX" sz="2000" i="1"/>
              <a:t>setosa</a:t>
            </a:r>
            <a:r>
              <a:rPr lang="es-MX" sz="2000"/>
              <a:t>, </a:t>
            </a:r>
            <a:r>
              <a:rPr lang="es-MX" sz="2000" i="1"/>
              <a:t>versicolor</a:t>
            </a:r>
            <a:r>
              <a:rPr lang="es-MX" sz="2000"/>
              <a:t>, </a:t>
            </a:r>
            <a:r>
              <a:rPr lang="es-MX" sz="2000" i="1"/>
              <a:t>virginica</a:t>
            </a:r>
            <a:r>
              <a:rPr lang="es-MX" sz="2000"/>
              <a:t>) a partir de sus medidas:</a:t>
            </a:r>
          </a:p>
          <a:p>
            <a:pPr lvl="1"/>
            <a:r>
              <a:rPr lang="es-MX" sz="2000"/>
              <a:t>longitud y ancho del sépalo</a:t>
            </a:r>
          </a:p>
          <a:p>
            <a:pPr lvl="1"/>
            <a:r>
              <a:rPr lang="es-MX" sz="2000"/>
              <a:t>longitud y ancho del pétalo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69DB3929-DBD2-151E-019B-C224CBA976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662879"/>
              </p:ext>
            </p:extLst>
          </p:nvPr>
        </p:nvGraphicFramePr>
        <p:xfrm>
          <a:off x="767408" y="3002280"/>
          <a:ext cx="10363200" cy="146304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2072640">
                  <a:extLst>
                    <a:ext uri="{9D8B030D-6E8A-4147-A177-3AD203B41FA5}">
                      <a16:colId xmlns:a16="http://schemas.microsoft.com/office/drawing/2014/main" val="3613944570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1574581640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4147194442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2694596741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2930048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Long. sépalo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Ancho sépalo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Long. pétalo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Ancho pétalo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Clase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5907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5.1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3.5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1.4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setosa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5526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7.0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3.2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4.7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1.4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versicolor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4016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6.3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3.3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6.0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2.5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virginica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5793792"/>
                  </a:ext>
                </a:extLst>
              </a:tr>
            </a:tbl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6A7CBA1C-052D-AF98-F803-9AE2060ED0E7}"/>
              </a:ext>
            </a:extLst>
          </p:cNvPr>
          <p:cNvSpPr txBox="1"/>
          <p:nvPr/>
        </p:nvSpPr>
        <p:spPr>
          <a:xfrm>
            <a:off x="1127448" y="4632533"/>
            <a:ext cx="72008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/>
              <a:t>Modelo: Perceptrón Multicapa (MLP)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sz="2000"/>
              <a:t>Entrada: 4 características (features)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sz="2000"/>
              <a:t>Capas ocultas: 1 o 2 capas densas (ej. 10 o 20 neuronas)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MX" sz="2000"/>
              <a:t>Salida: 3 neuronas (una por clase), con softmax</a:t>
            </a:r>
          </a:p>
        </p:txBody>
      </p:sp>
    </p:spTree>
    <p:extLst>
      <p:ext uri="{BB962C8B-B14F-4D97-AF65-F5344CB8AC3E}">
        <p14:creationId xmlns:p14="http://schemas.microsoft.com/office/powerpoint/2010/main" val="8622106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2A79D-C3E9-C250-9B6F-6F0464EF1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390E8-4A5B-D241-EDF6-CAD7B53FF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Arquitecturas principales de redes neuronales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973D7E-8F85-100A-C5FC-27B071D53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CNN – Redes Neuronales Convolucionales</a:t>
            </a:r>
          </a:p>
          <a:p>
            <a:pPr lvl="1"/>
            <a:r>
              <a:rPr lang="es-MX"/>
              <a:t>Diseñadas principalmente para imágenes.</a:t>
            </a:r>
          </a:p>
          <a:p>
            <a:pPr lvl="1"/>
            <a:r>
              <a:rPr lang="es-MX"/>
              <a:t>Ventaja: identifican patrones espaciales locales.</a:t>
            </a:r>
          </a:p>
          <a:p>
            <a:pPr lvl="1"/>
            <a:endParaRPr lang="es-MX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1507" name="Picture 3" descr="Clasificación de imágenes con redes profundas | by José Antonio Juárez  Pacheco | Medium">
            <a:extLst>
              <a:ext uri="{FF2B5EF4-FFF2-40B4-BE49-F238E27FC236}">
                <a16:creationId xmlns:a16="http://schemas.microsoft.com/office/drawing/2014/main" id="{470F89C0-BEA5-4F5A-84BA-BFBCCBBD5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59496" y="2708920"/>
            <a:ext cx="9505056" cy="3858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86829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B6287-5794-2941-C346-3592EBC15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5A00EA-F1E7-33D5-51CF-D3EC3981A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Arquitecturas principales de redes neuronales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4BD0D5-A7CD-54FD-EC9B-3C2BDBFBE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CNN – Redes Neuronales Convolucionales</a:t>
            </a:r>
          </a:p>
          <a:p>
            <a:pPr lvl="1"/>
            <a:r>
              <a:rPr lang="es-MX" sz="2000" b="1">
                <a:latin typeface="Calibri" panose="020F0502020204030204" pitchFamily="34" charset="0"/>
                <a:cs typeface="Calibri" panose="020F0502020204030204" pitchFamily="34" charset="0"/>
              </a:rPr>
              <a:t>Ejemplo: Clasificación de dígitos escritos a mano </a:t>
            </a:r>
            <a:r>
              <a:rPr lang="es-MX" sz="2000" b="1"/>
              <a:t>Dataset: MNIST</a:t>
            </a:r>
          </a:p>
          <a:p>
            <a:pPr lvl="2"/>
            <a:r>
              <a:rPr lang="es-MX" sz="2000"/>
              <a:t>60,000 imágenes para entrenamiento</a:t>
            </a:r>
          </a:p>
          <a:p>
            <a:pPr lvl="2"/>
            <a:r>
              <a:rPr lang="es-MX" sz="2000"/>
              <a:t>10,000 imágenes para prueba</a:t>
            </a:r>
          </a:p>
          <a:p>
            <a:pPr lvl="2"/>
            <a:r>
              <a:rPr lang="es-MX" sz="2000"/>
              <a:t>Imágenes en escala de grises de 28x28 píxeles</a:t>
            </a:r>
          </a:p>
          <a:p>
            <a:pPr lvl="1"/>
            <a:endParaRPr lang="es-MX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9DC79C2-0797-45CF-BDBB-AF53207C9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56" y="2924944"/>
            <a:ext cx="9239250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7666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87962-8422-0FF3-0301-CFA592E3D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F25AE1-F612-9A3E-006E-DAEAF1B97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Arquitecturas principales de redes neuronales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51EE8B-760E-1631-ED42-3F777B1B2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RNN – Redes Recurrentes:</a:t>
            </a:r>
          </a:p>
          <a:p>
            <a:pPr lvl="1"/>
            <a:r>
              <a:rPr lang="es-MX" sz="2000"/>
              <a:t>Una </a:t>
            </a:r>
            <a:r>
              <a:rPr lang="es-MX" sz="2000" b="1"/>
              <a:t>RNN</a:t>
            </a:r>
            <a:r>
              <a:rPr lang="es-MX" sz="2000"/>
              <a:t> es una red neuronal especializada en </a:t>
            </a:r>
            <a:r>
              <a:rPr lang="es-MX" sz="2000" b="1"/>
              <a:t>procesar datos que tienen orden o secuencia</a:t>
            </a:r>
            <a:r>
              <a:rPr lang="es-MX" sz="2000"/>
              <a:t>: texto, audio, video cuadro por cuadro, series de tiempo…</a:t>
            </a:r>
          </a:p>
          <a:p>
            <a:pPr lvl="1"/>
            <a:r>
              <a:rPr lang="pt-BR" sz="2000"/>
              <a:t>Poseen memoria interna para procesar contexto. </a:t>
            </a:r>
            <a:r>
              <a:rPr lang="es-MX" sz="2000"/>
              <a:t>A diferencia de una red tradicional, una RNN </a:t>
            </a:r>
            <a:r>
              <a:rPr lang="es-MX" sz="2000" b="1"/>
              <a:t>recuerda lo que ha visto antes</a:t>
            </a:r>
            <a:r>
              <a:rPr lang="es-MX" sz="2000"/>
              <a:t> para tomar decisiones más informadas.</a:t>
            </a:r>
          </a:p>
          <a:p>
            <a:pPr lvl="1"/>
            <a:r>
              <a:rPr lang="es-MX" sz="2000"/>
              <a:t>Las redes normales (como las densas o convolucionales) </a:t>
            </a:r>
            <a:r>
              <a:rPr lang="es-MX" sz="2000" b="1"/>
              <a:t>no tienen memoria</a:t>
            </a:r>
            <a:r>
              <a:rPr lang="es-MX" sz="2000"/>
              <a:t>, procesan la entrada como si todo fuera independiente.</a:t>
            </a:r>
          </a:p>
          <a:p>
            <a:pPr lvl="1"/>
            <a:r>
              <a:rPr lang="es-MX" sz="2000"/>
              <a:t>Las </a:t>
            </a:r>
            <a:r>
              <a:rPr lang="es-MX" sz="2000" b="1"/>
              <a:t>RNN sí recuerdan</a:t>
            </a:r>
            <a:r>
              <a:rPr lang="es-MX" sz="2000"/>
              <a:t> lo anterior, manteniendo un “estado oculto” que va </a:t>
            </a:r>
            <a:r>
              <a:rPr lang="es-MX" sz="2000" b="1"/>
              <a:t>actualizándose a cada paso</a:t>
            </a:r>
            <a:r>
              <a:rPr lang="es-MX" sz="2000"/>
              <a:t>.</a:t>
            </a:r>
          </a:p>
          <a:p>
            <a:pPr lvl="1"/>
            <a:r>
              <a:rPr lang="es-MX" sz="2000"/>
              <a:t>Las RNN son buenas para tareas donde </a:t>
            </a:r>
            <a:r>
              <a:rPr lang="es-MX" sz="2000" b="1"/>
              <a:t>el orden importa</a:t>
            </a:r>
            <a:r>
              <a:rPr lang="es-MX" sz="2000"/>
              <a:t> y donde cada paso puede depender del anterior.</a:t>
            </a:r>
            <a:endParaRPr lang="pt-BR" sz="2000"/>
          </a:p>
          <a:p>
            <a:pPr lvl="1"/>
            <a:endParaRPr lang="es-MX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2781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F5FF6-CB7B-B58B-6E54-8AECC5B60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433766-CC2F-AD22-E0A5-538D61749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Arquitecturas principales de redes neuronales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959139-9C33-3938-0943-7DAF2CFA8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RNN – Redes Recurrentes</a:t>
            </a:r>
          </a:p>
          <a:p>
            <a:pPr lvl="1"/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Arquitectura base: </a:t>
            </a:r>
          </a:p>
        </p:txBody>
      </p:sp>
      <p:pic>
        <p:nvPicPr>
          <p:cNvPr id="25602" name="Picture 2">
            <a:extLst>
              <a:ext uri="{FF2B5EF4-FFF2-40B4-BE49-F238E27FC236}">
                <a16:creationId xmlns:a16="http://schemas.microsoft.com/office/drawing/2014/main" id="{043D5808-D8FF-4C07-BCFA-6DEC0D2184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40" y="2420888"/>
            <a:ext cx="8976320" cy="3500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72127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CF80F-91A5-B2D5-DF8D-0AFC54517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A250-89A5-D7F6-737D-471A183CC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Arquitecturas principales de redes neuronales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624BB9-CA8F-BC64-044F-7BBF4403F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RNN – Redes Recurrentes</a:t>
            </a:r>
          </a:p>
          <a:p>
            <a:pPr lvl="1"/>
            <a:r>
              <a:rPr lang="es-MX" sz="2000"/>
              <a:t>Imaginen que están leyendo una frase palabra por palabra:</a:t>
            </a:r>
            <a:br>
              <a:rPr lang="es-MX" sz="2000"/>
            </a:br>
            <a:r>
              <a:rPr lang="es-MX" sz="2000"/>
              <a:t>“No me gustó la película porque era muy…”</a:t>
            </a:r>
            <a:br>
              <a:rPr lang="es-MX" sz="2000"/>
            </a:br>
            <a:r>
              <a:rPr lang="es-MX" sz="2000"/>
              <a:t>Para predecir la siguiente palabra (</a:t>
            </a:r>
            <a:r>
              <a:rPr lang="es-MX" sz="2000" b="1"/>
              <a:t>“aburrida”</a:t>
            </a:r>
            <a:r>
              <a:rPr lang="es-MX" sz="2000"/>
              <a:t>), necesitas </a:t>
            </a:r>
            <a:r>
              <a:rPr lang="es-MX" sz="2000" b="1"/>
              <a:t>recordar lo anterior</a:t>
            </a:r>
            <a:r>
              <a:rPr lang="es-MX" sz="2000"/>
              <a:t>.</a:t>
            </a:r>
            <a:endParaRPr lang="pt-BR" sz="2000"/>
          </a:p>
          <a:p>
            <a:r>
              <a:rPr lang="es-MX" b="1"/>
              <a:t>Ejemplo:</a:t>
            </a:r>
          </a:p>
          <a:p>
            <a:r>
              <a:rPr lang="es-MX" b="1"/>
              <a:t>Tarea: reconocimiento de emociones en voz</a:t>
            </a:r>
          </a:p>
          <a:p>
            <a:pPr lvl="1"/>
            <a:r>
              <a:rPr lang="es-MX" sz="2000"/>
              <a:t>Se le da a la red un audio dividido en fragmentos cortos.</a:t>
            </a:r>
          </a:p>
          <a:p>
            <a:pPr lvl="1"/>
            <a:r>
              <a:rPr lang="es-MX" sz="2000"/>
              <a:t>La RNN escucha el audio </a:t>
            </a:r>
            <a:r>
              <a:rPr lang="es-MX" sz="2000" b="1"/>
              <a:t>en orden</a:t>
            </a:r>
            <a:r>
              <a:rPr lang="es-MX" sz="2000"/>
              <a:t>, y con cada fragmento va formando una idea del tono emocional.</a:t>
            </a:r>
          </a:p>
          <a:p>
            <a:pPr lvl="1"/>
            <a:r>
              <a:rPr lang="es-MX" sz="2000"/>
              <a:t>Al final, predice si la persona está feliz, enojada, triste…</a:t>
            </a:r>
          </a:p>
          <a:p>
            <a:r>
              <a:rPr lang="es-MX" b="1"/>
              <a:t>Ventaja</a:t>
            </a:r>
            <a:r>
              <a:rPr lang="es-MX"/>
              <a:t>: el modelo tiene </a:t>
            </a:r>
            <a:r>
              <a:rPr lang="es-MX" b="1"/>
              <a:t>contexto</a:t>
            </a:r>
            <a:r>
              <a:rPr lang="es-MX"/>
              <a:t> del mansaje gracias a utiliza la  secuencia de los datos.</a:t>
            </a:r>
          </a:p>
          <a:p>
            <a:pPr lvl="1"/>
            <a:endParaRPr lang="es-MX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18486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C25B7-A7F2-E0E1-8539-C17089803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D9900D-2426-4889-59E0-54F65153E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Arquitecturas principales de redes neuronales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59D713-13E8-79BD-8B38-DF7249D2E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sz="2800" b="1">
                <a:latin typeface="Calibri" panose="020F0502020204030204" pitchFamily="34" charset="0"/>
                <a:cs typeface="Calibri" panose="020F0502020204030204" pitchFamily="34" charset="0"/>
              </a:rPr>
              <a:t>RNN – Redes Recurrentes</a:t>
            </a:r>
          </a:p>
          <a:p>
            <a:pPr lvl="1"/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Ejemplo práctico: Predecir la siguiente palabra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 de una frase corta. </a:t>
            </a:r>
          </a:p>
          <a:p>
            <a:pPr lvl="1"/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Entrenar una RNN simple para aprender la secuencia:</a:t>
            </a:r>
          </a:p>
          <a:p>
            <a:pPr lvl="2"/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“Yo soy estudiante”</a:t>
            </a:r>
          </a:p>
          <a:p>
            <a:pPr lvl="2"/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“Tú eres estudiante”</a:t>
            </a:r>
          </a:p>
          <a:p>
            <a:pPr lvl="2"/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“Él es estudiante”</a:t>
            </a:r>
          </a:p>
          <a:p>
            <a:pPr lvl="1"/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Y que luego prediga la palabra correcta dada una entrada parcial como:</a:t>
            </a:r>
          </a:p>
          <a:p>
            <a:pPr lvl="2"/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“Tú ___ estudiante” → predicción: "eres"</a:t>
            </a:r>
          </a:p>
        </p:txBody>
      </p:sp>
    </p:spTree>
    <p:extLst>
      <p:ext uri="{BB962C8B-B14F-4D97-AF65-F5344CB8AC3E}">
        <p14:creationId xmlns:p14="http://schemas.microsoft.com/office/powerpoint/2010/main" val="8138911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D3145-26B6-56F7-27EA-1937DA5D6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798CF5-B92A-19A5-877A-219FF13E3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Arquitecturas principales de redes neuronales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9D67E8-CA74-9F9A-3B8C-8D984196A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GAN – Redes Generativas Antagónicas</a:t>
            </a:r>
          </a:p>
          <a:p>
            <a:pPr lvl="1"/>
            <a:r>
              <a:rPr lang="es-MX" sz="2000"/>
              <a:t>Es un modelo de aprendizaje profundo compuesto por </a:t>
            </a:r>
            <a:r>
              <a:rPr lang="es-MX" sz="2000" b="1"/>
              <a:t>dos redes neuronales que compiten entre sí</a:t>
            </a:r>
            <a:r>
              <a:rPr lang="es-MX" sz="2000"/>
              <a:t>: una crea datos falsos y otra trata de detectar si son falsos.</a:t>
            </a:r>
            <a:endParaRPr lang="es-MX"/>
          </a:p>
          <a:p>
            <a:r>
              <a:rPr lang="es-MX" b="1"/>
              <a:t>Idea principal</a:t>
            </a:r>
          </a:p>
          <a:p>
            <a:pPr lvl="1"/>
            <a:r>
              <a:rPr lang="es-MX" sz="2000"/>
              <a:t>La </a:t>
            </a:r>
            <a:r>
              <a:rPr lang="es-MX" sz="2000" b="1"/>
              <a:t>red generadora (G)</a:t>
            </a:r>
            <a:r>
              <a:rPr lang="es-MX" sz="2000"/>
              <a:t> crea datos sintéticos (imágenes, audio, texto).</a:t>
            </a:r>
          </a:p>
          <a:p>
            <a:pPr lvl="1"/>
            <a:r>
              <a:rPr lang="es-MX" sz="2000"/>
              <a:t>La </a:t>
            </a:r>
            <a:r>
              <a:rPr lang="es-MX" sz="2000" b="1"/>
              <a:t>red discriminadora (D)</a:t>
            </a:r>
            <a:r>
              <a:rPr lang="es-MX" sz="2000"/>
              <a:t> evalúa si esos datos son reales o falsos.</a:t>
            </a:r>
          </a:p>
          <a:p>
            <a:r>
              <a:rPr lang="es-MX"/>
              <a:t>Ambas redes </a:t>
            </a:r>
            <a:r>
              <a:rPr lang="es-MX" b="1"/>
              <a:t>se entrenan al mismo tiempo</a:t>
            </a:r>
            <a:r>
              <a:rPr lang="es-MX"/>
              <a:t> en un juego de suma cero:</a:t>
            </a:r>
          </a:p>
          <a:p>
            <a:pPr lvl="1"/>
            <a:r>
              <a:rPr lang="es-MX" sz="2000"/>
              <a:t>El generador quiere </a:t>
            </a:r>
            <a:r>
              <a:rPr lang="es-MX" sz="2000" b="1"/>
              <a:t>engañar al discriminador</a:t>
            </a:r>
            <a:r>
              <a:rPr lang="es-MX" sz="2000"/>
              <a:t>.</a:t>
            </a:r>
          </a:p>
          <a:p>
            <a:pPr lvl="1"/>
            <a:r>
              <a:rPr lang="es-MX" sz="2000"/>
              <a:t>El discriminador quiere </a:t>
            </a:r>
            <a:r>
              <a:rPr lang="es-MX" sz="2000" b="1"/>
              <a:t>detectar los engaños</a:t>
            </a:r>
            <a:r>
              <a:rPr lang="es-MX" sz="2000"/>
              <a:t>.</a:t>
            </a:r>
          </a:p>
          <a:p>
            <a:r>
              <a:rPr lang="es-MX"/>
              <a:t>Este proceso lleva a que el generador </a:t>
            </a:r>
            <a:r>
              <a:rPr lang="es-MX" b="1"/>
              <a:t>mejore constantemente</a:t>
            </a:r>
            <a:r>
              <a:rPr lang="es-MX"/>
              <a:t> su habilidad para generar datos que parecen reales.</a:t>
            </a:r>
          </a:p>
          <a:p>
            <a:endParaRPr lang="es-MX" sz="2000"/>
          </a:p>
          <a:p>
            <a:pPr lvl="1"/>
            <a:endParaRPr lang="es-MX" b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MX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65780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69F3F-BCE9-6852-A966-81C118237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328048-F120-48B3-8287-A1B6FBF37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Arquitecturas principales de redes neuronales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C991AF-D6AB-DFE2-26E6-500775C4B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GAN – Redes Generativas Antagónicas</a:t>
            </a:r>
          </a:p>
          <a:p>
            <a:r>
              <a:rPr lang="es-MX"/>
              <a:t>Ejemplo: Falsificador vs Policía forense</a:t>
            </a:r>
          </a:p>
          <a:p>
            <a:pPr lvl="1"/>
            <a:r>
              <a:rPr lang="es-MX" sz="2000"/>
              <a:t>Imaginen que un falsificador (generador) intenta hacer billetes falsos. </a:t>
            </a:r>
          </a:p>
          <a:p>
            <a:pPr lvl="1"/>
            <a:r>
              <a:rPr lang="es-MX" sz="2000"/>
              <a:t>Un policía forense (discriminador) intenta detectar si son falsos o reales.</a:t>
            </a:r>
          </a:p>
          <a:p>
            <a:pPr lvl="1"/>
            <a:r>
              <a:rPr lang="es-MX" sz="2000"/>
              <a:t>Al principio, el falsificador es malo y el policía lo detecta fácilmente. Pero con el tiempo, el falsificador mejora. </a:t>
            </a:r>
          </a:p>
          <a:p>
            <a:pPr lvl="1"/>
            <a:r>
              <a:rPr lang="es-MX" sz="2000"/>
              <a:t>El policía también mejora sus métodos para detectar. </a:t>
            </a:r>
          </a:p>
          <a:p>
            <a:pPr lvl="1"/>
            <a:r>
              <a:rPr lang="es-MX" sz="2000"/>
              <a:t>Este juego de competencia hace que los billetes falsos se vuelvan indistinguibles de los reales.</a:t>
            </a:r>
          </a:p>
          <a:p>
            <a:pPr lvl="1"/>
            <a:endParaRPr lang="es-MX" b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MX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7294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AA739-1A88-383D-5A83-A3AE1E7DE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5AE301-9973-056E-BC6F-99116594D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Arquitecturas principales de redes neuronales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E55349-5EFC-B7DE-6A13-631D09430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¿Cómo funciona una GAN?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El generador recibe ruido (un vector aleatorio) y genera una imagen falsa.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El discriminador recibe esa imagen y una imagen real, y tiene que decir cuál es cuál.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Se calcula un error para ambos: </a:t>
            </a:r>
          </a:p>
          <a:p>
            <a:pPr marL="1200150" lvl="2" indent="-342900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Si el discriminador se equivoca, se ajusta. </a:t>
            </a:r>
          </a:p>
          <a:p>
            <a:pPr marL="1200150" lvl="2" indent="-342900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Si el generador engaña al discriminador, se ajusta para mejorar aún más.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El proceso se repite miles de veces.</a:t>
            </a:r>
          </a:p>
          <a:p>
            <a:endParaRPr lang="es-MX" b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Una GAN es un sistema donde una red aprende a mentir muy bien y otra a detectar mentiras. Al competir, ambas se vuelven increíblemente buenas en su tarea, y eso nos permite generar datos que parecen reales sin serlo.</a:t>
            </a:r>
          </a:p>
        </p:txBody>
      </p:sp>
    </p:spTree>
    <p:extLst>
      <p:ext uri="{BB962C8B-B14F-4D97-AF65-F5344CB8AC3E}">
        <p14:creationId xmlns:p14="http://schemas.microsoft.com/office/powerpoint/2010/main" val="41070403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97476-C09A-BB23-27E2-CF9299BF6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6C9EBA-0B0B-2E16-8E79-8E67A1774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Arquitecturas principales de redes neuronales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D70AED-03D4-8FEA-BDC5-C5B348504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487" y="1066800"/>
            <a:ext cx="10363200" cy="4876800"/>
          </a:xfrm>
        </p:spPr>
        <p:txBody>
          <a:bodyPr/>
          <a:lstStyle/>
          <a:p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Transformers:</a:t>
            </a:r>
          </a:p>
          <a:p>
            <a:pPr lvl="1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Un Transformer es una arquitectura de red neuronal diseñada para procesar secuencias de datos (como texto o lenguaje) de forma más eficiente y poderosa que las redes recurrentes (RNN). </a:t>
            </a:r>
          </a:p>
          <a:p>
            <a:pPr lvl="1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Se utilizan para: </a:t>
            </a:r>
          </a:p>
          <a:p>
            <a:pPr lvl="2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Traducción automática (Google Translate),</a:t>
            </a:r>
          </a:p>
          <a:p>
            <a:pPr lvl="2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Resumen de textos,</a:t>
            </a:r>
          </a:p>
          <a:p>
            <a:pPr lvl="2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Chatbots (como ChatGPT),</a:t>
            </a:r>
          </a:p>
          <a:p>
            <a:pPr lvl="2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Análisis de sentimientos,</a:t>
            </a:r>
          </a:p>
          <a:p>
            <a:pPr lvl="2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Generación de texto (poemas, código, etc.)</a:t>
            </a:r>
          </a:p>
          <a:p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¿Que los hace diferentes de las RNN?</a:t>
            </a:r>
          </a:p>
          <a:p>
            <a:pPr lvl="1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Procesan toda la secuencia a la vez (no paso por paso como las RNN).</a:t>
            </a:r>
          </a:p>
          <a:p>
            <a:pPr lvl="1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Usan un mecanismo llamado </a:t>
            </a:r>
            <a:r>
              <a:rPr lang="es-MX" sz="2000" b="1">
                <a:latin typeface="Calibri" panose="020F0502020204030204" pitchFamily="34" charset="0"/>
                <a:cs typeface="Calibri" panose="020F0502020204030204" pitchFamily="34" charset="0"/>
              </a:rPr>
              <a:t>autoatención</a:t>
            </a:r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 para enfocarse en las partes importantes del texto.</a:t>
            </a:r>
          </a:p>
        </p:txBody>
      </p:sp>
    </p:spTree>
    <p:extLst>
      <p:ext uri="{BB962C8B-B14F-4D97-AF65-F5344CB8AC3E}">
        <p14:creationId xmlns:p14="http://schemas.microsoft.com/office/powerpoint/2010/main" val="33464974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E4F56-BF77-6DFB-08CE-0136EA192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1D97CE-9D23-4DB4-AD86-FA2A42C4E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Arquitecturas principales de redes neuronales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036521-84A6-6873-9514-84515799E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487" y="1066800"/>
            <a:ext cx="10363200" cy="4876800"/>
          </a:xfrm>
        </p:spPr>
        <p:txBody>
          <a:bodyPr/>
          <a:lstStyle/>
          <a:p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Transformers.</a:t>
            </a:r>
          </a:p>
          <a:p>
            <a:pPr lvl="1"/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Autoatención: Es la habilidad del modelo de mirar hacia atrás y adelante en la secuencia para decidir qué partes son importantes para cada palabra. </a:t>
            </a:r>
          </a:p>
          <a:p>
            <a:pPr lvl="1"/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Ejemplo: </a:t>
            </a:r>
          </a:p>
          <a:p>
            <a:pPr lvl="2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Imagina leer esta oración: “Aunque estaba cansado, </a:t>
            </a:r>
            <a:r>
              <a:rPr lang="es-MX" sz="2000" b="1" u="sng">
                <a:latin typeface="Calibri" panose="020F0502020204030204" pitchFamily="34" charset="0"/>
                <a:cs typeface="Calibri" panose="020F0502020204030204" pitchFamily="34" charset="0"/>
              </a:rPr>
              <a:t>Juan</a:t>
            </a:r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 fue al entrenamiento porque </a:t>
            </a:r>
            <a:r>
              <a:rPr lang="es-MX" sz="2000" b="1" u="sng">
                <a:latin typeface="Calibri" panose="020F0502020204030204" pitchFamily="34" charset="0"/>
                <a:cs typeface="Calibri" panose="020F0502020204030204" pitchFamily="34" charset="0"/>
              </a:rPr>
              <a:t>él</a:t>
            </a:r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 no quería faltar.”</a:t>
            </a:r>
          </a:p>
          <a:p>
            <a:pPr lvl="2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Para entender a quién se refiere “</a:t>
            </a:r>
            <a:r>
              <a:rPr lang="es-MX" sz="2000" b="1">
                <a:latin typeface="Calibri" panose="020F0502020204030204" pitchFamily="34" charset="0"/>
                <a:cs typeface="Calibri" panose="020F0502020204030204" pitchFamily="34" charset="0"/>
              </a:rPr>
              <a:t>él</a:t>
            </a:r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”, el modelo necesita recordar que Juan fue mencionado antes. </a:t>
            </a:r>
          </a:p>
          <a:p>
            <a:pPr lvl="2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Autoatención permite que el modelo relacione “</a:t>
            </a:r>
            <a:r>
              <a:rPr lang="es-MX" sz="2000" b="1">
                <a:latin typeface="Calibri" panose="020F0502020204030204" pitchFamily="34" charset="0"/>
                <a:cs typeface="Calibri" panose="020F0502020204030204" pitchFamily="34" charset="0"/>
              </a:rPr>
              <a:t>él</a:t>
            </a:r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” con “</a:t>
            </a:r>
            <a:r>
              <a:rPr lang="es-MX" sz="2000" b="1">
                <a:latin typeface="Calibri" panose="020F0502020204030204" pitchFamily="34" charset="0"/>
                <a:cs typeface="Calibri" panose="020F0502020204030204" pitchFamily="34" charset="0"/>
              </a:rPr>
              <a:t>Juan</a:t>
            </a:r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” automáticamente, sin seguir la secuencia paso a paso como una RNN.</a:t>
            </a:r>
          </a:p>
        </p:txBody>
      </p:sp>
    </p:spTree>
    <p:extLst>
      <p:ext uri="{BB962C8B-B14F-4D97-AF65-F5344CB8AC3E}">
        <p14:creationId xmlns:p14="http://schemas.microsoft.com/office/powerpoint/2010/main" val="32611624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8F04E-2BB7-A4B1-5C66-85DE674DF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890DB2-C43F-4A21-BBF1-705603A2D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Arquitecturas principales de redes neuronales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DD76C5-E186-1F4B-2312-3B14E3868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487" y="1066800"/>
            <a:ext cx="10363200" cy="4876800"/>
          </a:xfrm>
        </p:spPr>
        <p:txBody>
          <a:bodyPr/>
          <a:lstStyle/>
          <a:p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Transformers.</a:t>
            </a:r>
          </a:p>
          <a:p>
            <a:pPr lvl="1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¿Como funciona la </a:t>
            </a:r>
            <a:r>
              <a:rPr lang="es-MX" sz="2000" b="1">
                <a:latin typeface="Calibri" panose="020F0502020204030204" pitchFamily="34" charset="0"/>
                <a:cs typeface="Calibri" panose="020F0502020204030204" pitchFamily="34" charset="0"/>
              </a:rPr>
              <a:t>autoatención</a:t>
            </a:r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?: </a:t>
            </a:r>
          </a:p>
          <a:p>
            <a:pPr lvl="1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Cada palabra (token) de la entrada:</a:t>
            </a:r>
          </a:p>
          <a:p>
            <a:pPr lvl="2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Se compara con todas las otras palabras de la oración. </a:t>
            </a:r>
          </a:p>
          <a:p>
            <a:pPr lvl="2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Calcula cuánta atención debe prestarle a cada una. </a:t>
            </a:r>
          </a:p>
          <a:p>
            <a:pPr lvl="2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Se crea una nueva representación para esa palabra, teniendo en cuenta el contexto completo.</a:t>
            </a:r>
          </a:p>
          <a:p>
            <a:pPr lvl="1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Así, cada palabra se “reinterpreta” en función de su relación con las demás.</a:t>
            </a:r>
          </a:p>
          <a:p>
            <a:pPr lvl="1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Ejemplo: “El gato persiguió al ratón”</a:t>
            </a:r>
          </a:p>
          <a:p>
            <a:pPr lvl="1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En el mecanismo de autoatención, para entender la palabra “persiguió”, el modelo presta más atención a “gato” y “ratón” que a “el” o “al”. </a:t>
            </a:r>
          </a:p>
          <a:p>
            <a:pPr lvl="1"/>
            <a: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  <a:t>El modelo aprende a ponderar la importancia de cada palabra en función de las demás.</a:t>
            </a:r>
            <a:br>
              <a:rPr lang="es-MX" sz="200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s-MX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5400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2B96D-C0A1-501E-0A8A-3122ABC6E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3C450A-B03C-863D-0A90-3125A05D0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81000"/>
            <a:ext cx="10363200" cy="685800"/>
          </a:xfrm>
        </p:spPr>
        <p:txBody>
          <a:bodyPr wrap="square" anchor="ctr">
            <a:normAutofit/>
          </a:bodyPr>
          <a:lstStyle/>
          <a:p>
            <a:r>
              <a:rPr lang="es-MX"/>
              <a:t>Arquitecturas principales de redes neuronales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9675AF-2A2B-BB28-7577-F46C184AF7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3706" y="1295400"/>
            <a:ext cx="5770694" cy="48768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s-MX" sz="2200" b="1"/>
              <a:t>Arquitectura típica de un Transformer.</a:t>
            </a:r>
          </a:p>
          <a:p>
            <a:pPr lvl="1">
              <a:lnSpc>
                <a:spcPct val="90000"/>
              </a:lnSpc>
            </a:pPr>
            <a:r>
              <a:rPr lang="es-MX" sz="2200"/>
              <a:t>No usa capas recurrentes ni convolucionales.</a:t>
            </a:r>
          </a:p>
          <a:p>
            <a:pPr lvl="1">
              <a:lnSpc>
                <a:spcPct val="90000"/>
              </a:lnSpc>
            </a:pPr>
            <a:r>
              <a:rPr lang="es-MX" sz="2200"/>
              <a:t>Está compuesto por bloques de atención + capas densas + normalización.</a:t>
            </a:r>
          </a:p>
          <a:p>
            <a:pPr lvl="1">
              <a:lnSpc>
                <a:spcPct val="90000"/>
              </a:lnSpc>
            </a:pPr>
            <a:r>
              <a:rPr lang="es-MX" sz="2200"/>
              <a:t>Tiene:</a:t>
            </a:r>
          </a:p>
          <a:p>
            <a:pPr lvl="2">
              <a:lnSpc>
                <a:spcPct val="90000"/>
              </a:lnSpc>
            </a:pPr>
            <a:r>
              <a:rPr lang="es-MX" sz="2200"/>
              <a:t>Codificador (encoder): entiende el texto de entrada,</a:t>
            </a:r>
          </a:p>
          <a:p>
            <a:pPr lvl="2">
              <a:lnSpc>
                <a:spcPct val="90000"/>
              </a:lnSpc>
            </a:pPr>
            <a:r>
              <a:rPr lang="es-MX" sz="2200"/>
              <a:t>Decodificador (decoder): genera texto de salida (en modelos como los traductores).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07FE8DB-A4B7-FF4C-8AEF-76CD0E2E488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32334" y="1453434"/>
            <a:ext cx="5735960" cy="4560732"/>
          </a:xfrm>
          <a:prstGeom prst="rect">
            <a:avLst/>
          </a:prstGeom>
          <a:noFill/>
        </p:spPr>
      </p:pic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8D823C5C-8EF6-0543-8CA6-5E167E630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3250" y="6591300"/>
            <a:ext cx="3860800" cy="2286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s-MX" sz="1000"/>
              <a:t>RNP-2025      Dr. José David Díaz Román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803400406"/>
      </p:ext>
    </p:extLst>
  </p:cSld>
  <p:clrMapOvr>
    <a:masterClrMapping/>
  </p:clrMapOvr>
</p:sld>
</file>

<file path=ppt/theme/theme1.xml><?xml version="1.0" encoding="utf-8"?>
<a:theme xmlns:a="http://schemas.openxmlformats.org/drawingml/2006/main" name="transp-reco">
  <a:themeElements>
    <a:clrScheme name="">
      <a:dk1>
        <a:srgbClr val="000000"/>
      </a:dk1>
      <a:lt1>
        <a:srgbClr val="FFFFCC"/>
      </a:lt1>
      <a:dk2>
        <a:srgbClr val="000099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transp-rec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transp-rec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nsp-rec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ransp-reco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nsp-reco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nsp-rec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nsp-rec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nsp-rec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Office\Plantillas\transp-reco.pot</Template>
  <TotalTime>12606</TotalTime>
  <Words>2493</Words>
  <Application>Microsoft Office PowerPoint</Application>
  <PresentationFormat>Panorámica</PresentationFormat>
  <Paragraphs>293</Paragraphs>
  <Slides>37</Slides>
  <Notes>2</Notes>
  <HiddenSlides>0</HiddenSlides>
  <MMClips>0</MMClips>
  <ScaleCrop>false</ScaleCrop>
  <HeadingPairs>
    <vt:vector size="8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2" baseType="lpstr">
      <vt:lpstr>Arial</vt:lpstr>
      <vt:lpstr>Calibri</vt:lpstr>
      <vt:lpstr>Times New Roman</vt:lpstr>
      <vt:lpstr>transp-reco</vt:lpstr>
      <vt:lpstr>Imagen de mapa de bits</vt:lpstr>
      <vt:lpstr>Redes Neuronales Profundas</vt:lpstr>
      <vt:lpstr>Objetivo de la Unidad </vt:lpstr>
      <vt:lpstr>Temario</vt:lpstr>
      <vt:lpstr>Introducción - Motivación</vt:lpstr>
      <vt:lpstr>Ejemplo de un vehículo autónomo</vt:lpstr>
      <vt:lpstr>Detección de objetos y estimación de parámetros</vt:lpstr>
      <vt:lpstr>Diagnóstico por images usando IA</vt:lpstr>
      <vt:lpstr>Aprendizaje automático</vt:lpstr>
      <vt:lpstr>Aprendizaje automático</vt:lpstr>
      <vt:lpstr>Aprendizaje automático</vt:lpstr>
      <vt:lpstr>Aprendizaje Profundo</vt:lpstr>
      <vt:lpstr>Aprendizaje Profundo</vt:lpstr>
      <vt:lpstr>Aprendizaje profundo</vt:lpstr>
      <vt:lpstr>Machine learning vs. deep learning</vt:lpstr>
      <vt:lpstr>Machine learning vs. deep learning</vt:lpstr>
      <vt:lpstr>Machine learning vs. deep learning</vt:lpstr>
      <vt:lpstr>Red neuronal simple vs. red profunda</vt:lpstr>
      <vt:lpstr>Aplicaciones del aprendizaje profundo</vt:lpstr>
      <vt:lpstr>Aplicaciones del aprendizaje profundo</vt:lpstr>
      <vt:lpstr>Digital Retinal Images for Vessel Extraction</vt:lpstr>
      <vt:lpstr>Lo que se observa en un sistema de un vehículo autónomo</vt:lpstr>
      <vt:lpstr>Detección/segmentación de aneurismas intracraneales</vt:lpstr>
      <vt:lpstr>Arquitecturas principales de redes neuronales profundas</vt:lpstr>
      <vt:lpstr>Arquitecturas principales de redes neuronales</vt:lpstr>
      <vt:lpstr>Arquitecturas principales de redes neuronales</vt:lpstr>
      <vt:lpstr>Arquitecturas principales de redes neuronales</vt:lpstr>
      <vt:lpstr>Arquitecturas principales de redes neuronales</vt:lpstr>
      <vt:lpstr>Arquitecturas principales de redes neuronales</vt:lpstr>
      <vt:lpstr>Arquitecturas principales de redes neuronales</vt:lpstr>
      <vt:lpstr>Arquitecturas principales de redes neuronales</vt:lpstr>
      <vt:lpstr>Arquitecturas principales de redes neuronales</vt:lpstr>
      <vt:lpstr>Arquitecturas principales de redes neuronales</vt:lpstr>
      <vt:lpstr>Arquitecturas principales de redes neuronales</vt:lpstr>
      <vt:lpstr>Arquitecturas principales de redes neuronales</vt:lpstr>
      <vt:lpstr>Arquitecturas principales de redes neuronales</vt:lpstr>
      <vt:lpstr>Arquitecturas principales de redes neuronales</vt:lpstr>
      <vt:lpstr>Arquitecturas principales de redes neuronales</vt:lpstr>
    </vt:vector>
  </TitlesOfParts>
  <Company>Dpto. Informatica y Sistemas - ULPGC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Instrumentación</dc:title>
  <dc:creator>javier</dc:creator>
  <cp:lastModifiedBy>Autor</cp:lastModifiedBy>
  <cp:revision>349</cp:revision>
  <dcterms:created xsi:type="dcterms:W3CDTF">2001-02-19T09:35:00Z</dcterms:created>
  <dcterms:modified xsi:type="dcterms:W3CDTF">2026-01-20T04:51:24Z</dcterms:modified>
</cp:coreProperties>
</file>